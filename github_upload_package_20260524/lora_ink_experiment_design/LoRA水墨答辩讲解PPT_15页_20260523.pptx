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各位老师好，我的题目是基于 LoRA 微调 Stable Diffusion 的个性化图像生成研究。本次汇报以中国水墨画风格为例，重点说明为什么需要微调、如何实现微调，以及实验结果是否支撑方法可行。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这一页先说明研究背景。Stable Diffusion 这类文生图模型已经具备较强通用生成能力，但如果目标是稳定生成某一种具体艺术风格，仅靠提示词往往不够，尤其是水墨画这种对墨色、留白和纸面质感要求较高的风格。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传统全量微调可以学习特定风格，但硬件成本和训练成本较高。因此本文采用 LoRA，只训练少量低秩适配参数。研究目标包括数据集构建、Stable Diffusion v1.5 的 LoRA 微调、超参数对比以及生成结果和 FID 评价。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Stable Diffusion 的关键在于潜在扩散。图像先通过 VAE 进入潜在空间，再由 UNet 在文本条件下完成噪声预测。文本编码器提供语义条件，UNet 是去噪核心，VAE 负责潜在空间和图像空间之间转换。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LoRA 的核心是冻结原始权重，用两个低秩矩阵表示权重更新量。这样可以明显减少需要训练的参数量，也降低显存占用。本文将 LoRA 注入到 Stable Diffusion v1.5 的 UNet 模块中，学习水墨画风格。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整体流程分为五步：先构建图文数据集，再完成图像和文本预处理，然后训练 LoRA，训练后挂载 LoRA 权重生成图像，最后结合 loss、可视化和 FID 进行评价。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数据集来自 Hugging Face 的公开中国画图文数据集，整理后共 2192 条图文配对记录。图像统一转为 RGB 并处理到 512×512，文本描述作为提示词，通过 metadata_train.jsonl 建立图文对应关系。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实验不是在高算力服务器上完成，而是在 Windows 11 和 RTX 3060 Laptop GPU 6GB 条件下完成。这一点能体现 LoRA 的轻量化特点，也说明方法具有较好的可复现性。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训练时冻结 VAE、文本编码器和 UNet 原始参数，只更新 LoRA 参数。每一步先把图像编码到潜在空间，随机加噪并采样时间步，UNet 预测噪声，通过 MSE loss 更新 LoRA。训练完成后 LoRA 权重单独保存。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对比实验主要分为三类：Rank 对比、训练步数对比和学习率对比。评价方式不是只看单一指标，而是同时看训练 loss 曲线、生成样例、基础模型和 LoRA 模型对比，以及 FID 指标。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五组 loss 曲线都有波动，部分 step 还有尖峰。这是扩散模型训练中的正常现象，因为每一步随机样本、随机噪声和随机时间步都会影响单步难度。移动平均整体稳定，说明训练没有持续发散。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Rank、训练步数和学习率的结论要合并看。Rank 不是越大越好，训练步数也不是越多越好。学习率实验中几组都能完成训练，所以最终应结合生成效果和 FID，而不是只根据 loss 判断。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这一页是最直观的结果对比。未微调基础模型能生成主体内容，但风格更接近通用插画。LoRA 微调后，远山、云雾、留白、枝干笔触和纸面氛围更接近水墨画，说明风格适配能力增强。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FID 用来衡量生成图像集合与真实图像集合在特征分布上的距离。当前最低 FID 是 Rank=16、step=600，数值为 356.3228。但由于每组只有 3 张生成图参与计算，所以这里更适合作为相对参考。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最后总结：本文完成了水墨画数据整理、LoRA 微调、生成结果展示、超参数对比和 FID 评价。结论是 LoRA 能在较低成本下提升水墨风格适配能力。不足主要是样本数量和评价维度仍有限，未来可扩大样本并加入更多指标。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_img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4_img1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7_img1.png"/>
  <Relationship Id="rId3" Type="http://schemas.openxmlformats.org/officeDocument/2006/relationships/image" Target="../media/s7_img2.png"/>
  <Relationship Id="rId4" Type="http://schemas.openxmlformats.org/officeDocument/2006/relationships/image" Target="../media/s7_img3.png"/>
  <Relationship Id="rId5" Type="http://schemas.openxmlformats.org/officeDocument/2006/relationships/image" Target="../media/s7_img4.png"/>
  <Relationship Id="rId6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1_img1.png"/>
  <Relationship Id="rId3" Type="http://schemas.openxmlformats.org/officeDocument/2006/relationships/image" Target="../media/s11_img2.png"/>
  <Relationship Id="rId4" Type="http://schemas.openxmlformats.org/officeDocument/2006/relationships/image" Target="../media/s11_img3.png"/>
  <Relationship Id="rId5" Type="http://schemas.openxmlformats.org/officeDocument/2006/relationships/image" Target="../media/s11_img4.png"/>
  <Relationship Id="rId6" Type="http://schemas.openxmlformats.org/officeDocument/2006/relationships/image" Target="../media/s11_img5.png"/>
  <Relationship Id="rId7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2_img1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3_img1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4_img1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>
              <a:alpha val="76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232826">
              <a:alpha val="88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52450" y="704850"/>
            <a:ext cx="685800" cy="57150"/>
          </a:xfrm>
          <a:custGeom>
            <a:avLst/>
            <a:gdLst/>
            <a:ahLst/>
            <a:cxnLst/>
            <a:rect l="l" t="t" r="r" b="b"/>
            <a:pathLst>
              <a:path w="685800" h="57150">
                <a:moveTo>
                  <a:pt x="28575" y="0"/>
                </a:moveTo>
                <a:lnTo>
                  <a:pt x="657225" y="0"/>
                </a:lnTo>
                <a:cubicBezTo>
                  <a:pt x="673007" y="0"/>
                  <a:pt x="685800" y="12793"/>
                  <a:pt x="685800" y="28575"/>
                </a:cubicBezTo>
                <a:lnTo>
                  <a:pt x="685800" y="28575"/>
                </a:lnTo>
                <a:cubicBezTo>
                  <a:pt x="685800" y="44357"/>
                  <a:pt x="673007" y="57150"/>
                  <a:pt x="6572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20065" y="1105852"/>
            <a:ext cx="248927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SimHei"/>
                <a:cs typeface="Arial"/>
              </a:rPr>
              <a:t>基于LoRA微调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0065" y="1572578"/>
            <a:ext cx="350600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SimHei"/>
                <a:cs typeface="Arial"/>
              </a:rPr>
              <a:t>Stable Diffusion的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0540" y="2139315"/>
            <a:ext cx="46383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SimHei"/>
                <a:cs typeface="Arial"/>
              </a:rPr>
              <a:t>个性化图像生成研究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1495" y="3250882"/>
            <a:ext cx="4128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4EBD0"/>
                </a:solidFill>
                <a:latin typeface="Arial"/>
                <a:ea typeface="Microsoft YaHei"/>
                <a:cs typeface="Arial"/>
              </a:rPr>
              <a:t>水墨画风格生成 · 本科毕业设计答辩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2450" y="4171950"/>
            <a:ext cx="3848100" cy="1428750"/>
          </a:xfrm>
          <a:custGeom>
            <a:avLst/>
            <a:gdLst/>
            <a:ahLst/>
            <a:cxnLst/>
            <a:rect l="l" t="t" r="r" b="b"/>
            <a:pathLst>
              <a:path w="3848100" h="1428750">
                <a:moveTo>
                  <a:pt x="76200" y="0"/>
                </a:moveTo>
                <a:lnTo>
                  <a:pt x="3771900" y="0"/>
                </a:lnTo>
                <a:cubicBezTo>
                  <a:pt x="3813984" y="0"/>
                  <a:pt x="3848100" y="34116"/>
                  <a:pt x="3848100" y="76200"/>
                </a:cubicBezTo>
                <a:lnTo>
                  <a:pt x="3848100" y="1352550"/>
                </a:lnTo>
                <a:cubicBezTo>
                  <a:pt x="3848100" y="1394634"/>
                  <a:pt x="3813984" y="1428750"/>
                  <a:pt x="37719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63905" y="43881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学生姓名：陈思翰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905" y="4683442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指导教师：沈湘宇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905" y="4978718"/>
            <a:ext cx="36818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学院专业：低空经济学院 2022级人工智能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3905" y="5273992"/>
            <a:ext cx="23707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答辩日期：2026年5月23日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95260" y="5833110"/>
            <a:ext cx="23439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LoRA微调后的水墨画生成样例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543800" y="5695950"/>
            <a:ext cx="3429000" cy="9525"/>
          </a:xfrm>
          <a:prstGeom prst="rect">
            <a:avLst/>
          </a:prstGeom>
          <a:solidFill>
            <a:srgbClr val="BCCBC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研究背景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02/15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通用文生图模型可以生成图，但不一定能稳定生成指定艺术风格。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9600" y="1352550"/>
            <a:ext cx="3333750" cy="1352550"/>
          </a:xfrm>
          <a:custGeom>
            <a:avLst/>
            <a:gdLst/>
            <a:ahLst/>
            <a:cxnLst/>
            <a:rect l="l" t="t" r="r" b="b"/>
            <a:pathLst>
              <a:path w="3333750" h="13525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1276350"/>
                </a:lnTo>
                <a:cubicBezTo>
                  <a:pt x="3333750" y="1318434"/>
                  <a:pt x="3299634" y="1352550"/>
                  <a:pt x="3257550" y="1352550"/>
                </a:cubicBezTo>
                <a:lnTo>
                  <a:pt x="76200" y="1352550"/>
                </a:lnTo>
                <a:cubicBezTo>
                  <a:pt x="34116" y="1352550"/>
                  <a:pt x="0" y="1318434"/>
                  <a:pt x="0" y="1276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09600" y="1352550"/>
            <a:ext cx="57150" cy="1352550"/>
          </a:xfrm>
          <a:custGeom>
            <a:avLst/>
            <a:gdLst/>
            <a:ahLst/>
            <a:cxnLst/>
            <a:rect l="l" t="t" r="r" b="b"/>
            <a:pathLst>
              <a:path w="57150" h="13525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23975"/>
                </a:lnTo>
                <a:cubicBezTo>
                  <a:pt x="57150" y="1339757"/>
                  <a:pt x="44357" y="1352550"/>
                  <a:pt x="28575" y="1352550"/>
                </a:cubicBezTo>
                <a:lnTo>
                  <a:pt x="28575" y="1352550"/>
                </a:lnTo>
                <a:cubicBezTo>
                  <a:pt x="12793" y="1352550"/>
                  <a:pt x="0" y="1339757"/>
                  <a:pt x="0" y="1323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F497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8195" y="1498282"/>
            <a:ext cx="25342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生成式AI进入视觉创作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2005" y="189261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文本到图像生成已广泛用于数字艺术、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2005" y="2140268"/>
            <a:ext cx="3297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内容创作和视觉设计，模型能力从“能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2005" y="2387918"/>
            <a:ext cx="21341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生成”走向“可控生成”。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3009900"/>
            <a:ext cx="3333750" cy="1352550"/>
          </a:xfrm>
          <a:custGeom>
            <a:avLst/>
            <a:gdLst/>
            <a:ahLst/>
            <a:cxnLst/>
            <a:rect l="l" t="t" r="r" b="b"/>
            <a:pathLst>
              <a:path w="3333750" h="13525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1276350"/>
                </a:lnTo>
                <a:cubicBezTo>
                  <a:pt x="3333750" y="1318434"/>
                  <a:pt x="3299634" y="1352550"/>
                  <a:pt x="3257550" y="1352550"/>
                </a:cubicBezTo>
                <a:lnTo>
                  <a:pt x="76200" y="1352550"/>
                </a:lnTo>
                <a:cubicBezTo>
                  <a:pt x="34116" y="1352550"/>
                  <a:pt x="0" y="1318434"/>
                  <a:pt x="0" y="1276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609600" y="3009900"/>
            <a:ext cx="57150" cy="1352550"/>
          </a:xfrm>
          <a:custGeom>
            <a:avLst/>
            <a:gdLst/>
            <a:ahLst/>
            <a:cxnLst/>
            <a:rect l="l" t="t" r="r" b="b"/>
            <a:pathLst>
              <a:path w="57150" h="13525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323975"/>
                </a:lnTo>
                <a:cubicBezTo>
                  <a:pt x="57150" y="1339757"/>
                  <a:pt x="44357" y="1352550"/>
                  <a:pt x="28575" y="1352550"/>
                </a:cubicBezTo>
                <a:lnTo>
                  <a:pt x="28575" y="1352550"/>
                </a:lnTo>
                <a:cubicBezTo>
                  <a:pt x="12793" y="1352550"/>
                  <a:pt x="0" y="1339757"/>
                  <a:pt x="0" y="13239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98195" y="3155632"/>
            <a:ext cx="27746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Stable Diffusion的优势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2005" y="35499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开源生态成熟、本地部署方便、生成质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2005" y="379761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量较高，适合作为可复现实验的基础模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2005" y="404526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型。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4667250"/>
            <a:ext cx="3333750" cy="1200150"/>
          </a:xfrm>
          <a:custGeom>
            <a:avLst/>
            <a:gdLst/>
            <a:ahLst/>
            <a:cxnLst/>
            <a:rect l="l" t="t" r="r" b="b"/>
            <a:pathLst>
              <a:path w="3333750" h="1200150">
                <a:moveTo>
                  <a:pt x="76200" y="0"/>
                </a:moveTo>
                <a:lnTo>
                  <a:pt x="3257550" y="0"/>
                </a:lnTo>
                <a:cubicBezTo>
                  <a:pt x="3299634" y="0"/>
                  <a:pt x="3333750" y="34116"/>
                  <a:pt x="3333750" y="76200"/>
                </a:cubicBezTo>
                <a:lnTo>
                  <a:pt x="3333750" y="1123950"/>
                </a:lnTo>
                <a:cubicBezTo>
                  <a:pt x="3333750" y="1166034"/>
                  <a:pt x="3299634" y="1200150"/>
                  <a:pt x="3257550" y="1200150"/>
                </a:cubicBezTo>
                <a:lnTo>
                  <a:pt x="76200" y="1200150"/>
                </a:lnTo>
                <a:cubicBezTo>
                  <a:pt x="34116" y="1200150"/>
                  <a:pt x="0" y="1166034"/>
                  <a:pt x="0" y="1123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609600" y="4667250"/>
            <a:ext cx="57150" cy="1200150"/>
          </a:xfrm>
          <a:custGeom>
            <a:avLst/>
            <a:gdLst/>
            <a:ahLst/>
            <a:cxnLst/>
            <a:rect l="l" t="t" r="r" b="b"/>
            <a:pathLst>
              <a:path w="57150" h="1200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71575"/>
                </a:lnTo>
                <a:cubicBezTo>
                  <a:pt x="57150" y="1187357"/>
                  <a:pt x="44357" y="1200150"/>
                  <a:pt x="28575" y="1200150"/>
                </a:cubicBezTo>
                <a:lnTo>
                  <a:pt x="28575" y="1200150"/>
                </a:lnTo>
                <a:cubicBezTo>
                  <a:pt x="12793" y="1200150"/>
                  <a:pt x="0" y="1187357"/>
                  <a:pt x="0" y="1171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0504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195" y="48129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核心矛盾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005" y="520731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提示词能描述内容，但对特定风格的一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2005" y="545496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致性约束不足。</a:t>
            </a:r>
          </a:p>
        </p:txBody>
      </p:sp>
      <p:sp>
        <p:nvSpPr>
          <p:cNvPr id="29" name="Freeform 29"/>
          <p:cNvSpPr/>
          <p:nvPr/>
        </p:nvSpPr>
        <p:spPr>
          <a:xfrm>
            <a:off x="4686300" y="1352550"/>
            <a:ext cx="6496050" cy="4514850"/>
          </a:xfrm>
          <a:custGeom>
            <a:avLst/>
            <a:gdLst/>
            <a:ahLst/>
            <a:cxnLst/>
            <a:rect l="l" t="t" r="r" b="b"/>
            <a:pathLst>
              <a:path w="6496050" h="4514850">
                <a:moveTo>
                  <a:pt x="76200" y="0"/>
                </a:moveTo>
                <a:lnTo>
                  <a:pt x="6419850" y="0"/>
                </a:lnTo>
                <a:cubicBezTo>
                  <a:pt x="6461934" y="0"/>
                  <a:pt x="6496050" y="34116"/>
                  <a:pt x="6496050" y="76200"/>
                </a:cubicBezTo>
                <a:lnTo>
                  <a:pt x="6496050" y="4438650"/>
                </a:lnTo>
                <a:cubicBezTo>
                  <a:pt x="6496050" y="4480734"/>
                  <a:pt x="6461934" y="4514850"/>
                  <a:pt x="6419850" y="4514850"/>
                </a:cubicBezTo>
                <a:lnTo>
                  <a:pt x="76200" y="4514850"/>
                </a:lnTo>
                <a:cubicBezTo>
                  <a:pt x="34116" y="4514850"/>
                  <a:pt x="0" y="4480734"/>
                  <a:pt x="0" y="4438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095875" y="16430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通用模型</a:t>
            </a:r>
          </a:p>
        </p:txBody>
      </p:sp>
      <p:sp>
        <p:nvSpPr>
          <p:cNvPr id="31" name="Line 31"/>
          <p:cNvSpPr/>
          <p:nvPr/>
        </p:nvSpPr>
        <p:spPr>
          <a:xfrm>
            <a:off x="6858000" y="192405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28575" cap="rnd">
            <a:solidFill>
              <a:srgbClr val="2F7D6B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10525" y="188595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48675" y="164306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F7D6B"/>
                </a:solidFill>
                <a:latin typeface="Arial"/>
                <a:ea typeface="SimHei"/>
                <a:cs typeface="Arial"/>
              </a:rPr>
              <a:t>目标风格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24450" y="2524125"/>
            <a:ext cx="3762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可以响应山水、人物、花鸟等主体内容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24450" y="3095625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但仅靠提示词难以持续稳定地形成：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85435" y="36185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墨色层次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85435" y="40566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宣纸质感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85435" y="449484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留白构图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85435" y="4932998"/>
            <a:ext cx="124568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传统画风</a:t>
            </a:r>
          </a:p>
        </p:txBody>
      </p:sp>
      <p:sp>
        <p:nvSpPr>
          <p:cNvPr id="40" name="Freeform 40"/>
          <p:cNvSpPr/>
          <p:nvPr/>
        </p:nvSpPr>
        <p:spPr>
          <a:xfrm>
            <a:off x="8096250" y="3676650"/>
            <a:ext cx="2190750" cy="723900"/>
          </a:xfrm>
          <a:custGeom>
            <a:avLst/>
            <a:gdLst/>
            <a:ahLst/>
            <a:cxnLst/>
            <a:rect l="l" t="t" r="r" b="b"/>
            <a:pathLst>
              <a:path w="2190750" h="723900">
                <a:moveTo>
                  <a:pt x="76200" y="0"/>
                </a:moveTo>
                <a:lnTo>
                  <a:pt x="2114550" y="0"/>
                </a:lnTo>
                <a:cubicBezTo>
                  <a:pt x="2156634" y="0"/>
                  <a:pt x="2190750" y="34116"/>
                  <a:pt x="2190750" y="76200"/>
                </a:cubicBezTo>
                <a:lnTo>
                  <a:pt x="2190750" y="647700"/>
                </a:lnTo>
                <a:cubicBezTo>
                  <a:pt x="2190750" y="689784"/>
                  <a:pt x="2156634" y="723900"/>
                  <a:pt x="2114550" y="723900"/>
                </a:cubicBezTo>
                <a:lnTo>
                  <a:pt x="76200" y="723900"/>
                </a:lnTo>
                <a:cubicBezTo>
                  <a:pt x="34116" y="723900"/>
                  <a:pt x="0" y="689784"/>
                  <a:pt x="0" y="647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EBD0"/>
          </a:solidFill>
          <a:ln w="9525">
            <a:solidFill>
              <a:srgbClr val="D6DDD7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285059" y="3946208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需要低成本适配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86350" y="4981575"/>
            <a:ext cx="60626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本研究从“风格稳定生成”问题出发，选择 LoRA 对 Stable Diff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86350" y="5257800"/>
            <a:ext cx="3061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usion 进行轻量化个性化微调。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35842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研究问题与研究目标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03/15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969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问题不是“能不能生成”，而是如何以较低成本稳定学习水墨画风格。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9600" y="1485900"/>
            <a:ext cx="5143500" cy="4362450"/>
          </a:xfrm>
          <a:custGeom>
            <a:avLst/>
            <a:gdLst/>
            <a:ahLst/>
            <a:cxnLst/>
            <a:rect l="l" t="t" r="r" b="b"/>
            <a:pathLst>
              <a:path w="5143500" h="43624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4286250"/>
                </a:lnTo>
                <a:cubicBezTo>
                  <a:pt x="5143500" y="4328334"/>
                  <a:pt x="5109384" y="4362450"/>
                  <a:pt x="5067300" y="4362450"/>
                </a:cubicBezTo>
                <a:lnTo>
                  <a:pt x="76200" y="4362450"/>
                </a:lnTo>
                <a:cubicBezTo>
                  <a:pt x="34116" y="4362450"/>
                  <a:pt x="0" y="4328334"/>
                  <a:pt x="0" y="42862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06780" y="173545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全量微调的成本压力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495" y="23745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需要更新大量模型参数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2495" y="28317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显存占用高，训练时间长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2495" y="3288982"/>
            <a:ext cx="3656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硬件门槛高，不利于普通设备复现</a:t>
            </a:r>
          </a:p>
        </p:txBody>
      </p:sp>
      <p:sp>
        <p:nvSpPr>
          <p:cNvPr id="17" name="Line 17"/>
          <p:cNvSpPr/>
          <p:nvPr/>
        </p:nvSpPr>
        <p:spPr>
          <a:xfrm>
            <a:off x="971550" y="4114800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14400" y="4429125"/>
            <a:ext cx="47263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本文选择 LoRA 参数高效微调：冻结 Stable Diff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4705350"/>
            <a:ext cx="47810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usion 主体参数，仅训练少量低秩适配参数，在 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" y="4981575"/>
            <a:ext cx="31818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GB GPU 条件下实现风格个性化。</a:t>
            </a:r>
          </a:p>
        </p:txBody>
      </p:sp>
      <p:sp>
        <p:nvSpPr>
          <p:cNvPr id="21" name="Freeform 21"/>
          <p:cNvSpPr/>
          <p:nvPr/>
        </p:nvSpPr>
        <p:spPr>
          <a:xfrm>
            <a:off x="6534150" y="1524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76200" y="0"/>
                </a:moveTo>
                <a:lnTo>
                  <a:pt x="609600" y="0"/>
                </a:lnTo>
                <a:cubicBezTo>
                  <a:pt x="651684" y="0"/>
                  <a:pt x="685800" y="34116"/>
                  <a:pt x="685800" y="76200"/>
                </a:cubicBezTo>
                <a:lnTo>
                  <a:pt x="685800" y="609600"/>
                </a:lnTo>
                <a:cubicBezTo>
                  <a:pt x="685800" y="651684"/>
                  <a:pt x="651684" y="685800"/>
                  <a:pt x="6096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13513" y="17354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08545" y="1612582"/>
            <a:ext cx="25722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构建水墨画图文数据集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13308" y="1976914"/>
            <a:ext cx="218315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整理 2192 条图文配对记录</a:t>
            </a:r>
          </a:p>
        </p:txBody>
      </p:sp>
      <p:sp>
        <p:nvSpPr>
          <p:cNvPr id="25" name="Freeform 25"/>
          <p:cNvSpPr/>
          <p:nvPr/>
        </p:nvSpPr>
        <p:spPr>
          <a:xfrm>
            <a:off x="6534150" y="25908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76200" y="0"/>
                </a:moveTo>
                <a:lnTo>
                  <a:pt x="609600" y="0"/>
                </a:lnTo>
                <a:cubicBezTo>
                  <a:pt x="651684" y="0"/>
                  <a:pt x="685800" y="34116"/>
                  <a:pt x="685800" y="76200"/>
                </a:cubicBezTo>
                <a:lnTo>
                  <a:pt x="685800" y="609600"/>
                </a:lnTo>
                <a:cubicBezTo>
                  <a:pt x="685800" y="651684"/>
                  <a:pt x="651684" y="685800"/>
                  <a:pt x="6096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73258" y="28022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08545" y="2679382"/>
            <a:ext cx="26860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完成 SD v1.5 LoRA 微调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3308" y="3043714"/>
            <a:ext cx="282559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冻结主体参数，仅训练新增适配器</a:t>
            </a:r>
          </a:p>
        </p:txBody>
      </p:sp>
      <p:sp>
        <p:nvSpPr>
          <p:cNvPr id="29" name="Freeform 29"/>
          <p:cNvSpPr/>
          <p:nvPr/>
        </p:nvSpPr>
        <p:spPr>
          <a:xfrm>
            <a:off x="6534150" y="3657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76200" y="0"/>
                </a:moveTo>
                <a:lnTo>
                  <a:pt x="609600" y="0"/>
                </a:lnTo>
                <a:cubicBezTo>
                  <a:pt x="651684" y="0"/>
                  <a:pt x="685800" y="34116"/>
                  <a:pt x="685800" y="76200"/>
                </a:cubicBezTo>
                <a:lnTo>
                  <a:pt x="685800" y="609600"/>
                </a:lnTo>
                <a:cubicBezTo>
                  <a:pt x="685800" y="651684"/>
                  <a:pt x="651684" y="685800"/>
                  <a:pt x="6096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673258" y="38690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08545" y="3746182"/>
            <a:ext cx="29517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分析 Rank、步数、学习率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13308" y="4110514"/>
            <a:ext cx="22669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围绕关键超参数做对比实验</a:t>
            </a:r>
          </a:p>
        </p:txBody>
      </p:sp>
      <p:sp>
        <p:nvSpPr>
          <p:cNvPr id="33" name="Freeform 33"/>
          <p:cNvSpPr/>
          <p:nvPr/>
        </p:nvSpPr>
        <p:spPr>
          <a:xfrm>
            <a:off x="6534150" y="4724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76200" y="0"/>
                </a:moveTo>
                <a:lnTo>
                  <a:pt x="609600" y="0"/>
                </a:lnTo>
                <a:cubicBezTo>
                  <a:pt x="651684" y="0"/>
                  <a:pt x="685800" y="34116"/>
                  <a:pt x="685800" y="76200"/>
                </a:cubicBezTo>
                <a:lnTo>
                  <a:pt x="685800" y="609600"/>
                </a:lnTo>
                <a:cubicBezTo>
                  <a:pt x="685800" y="651684"/>
                  <a:pt x="651684" y="685800"/>
                  <a:pt x="6096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73258" y="49358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8545" y="4812982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结合生成结果与 FID 评价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3308" y="5177314"/>
            <a:ext cx="263937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从主观视觉与客观指标共同验证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50701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技术基础：Stable Diffusion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04/15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6491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在潜在空间完成扩散过程，核心由文本编码器、UNet 和 VAE 三部分协同。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9600" y="1352550"/>
            <a:ext cx="4191000" cy="4514850"/>
          </a:xfrm>
          <a:custGeom>
            <a:avLst/>
            <a:gdLst/>
            <a:ahLst/>
            <a:cxnLst/>
            <a:rect l="l" t="t" r="r" b="b"/>
            <a:pathLst>
              <a:path w="4191000" h="4514850">
                <a:moveTo>
                  <a:pt x="76200" y="0"/>
                </a:moveTo>
                <a:lnTo>
                  <a:pt x="4114800" y="0"/>
                </a:lnTo>
                <a:cubicBezTo>
                  <a:pt x="4156884" y="0"/>
                  <a:pt x="4191000" y="34116"/>
                  <a:pt x="4191000" y="76200"/>
                </a:cubicBezTo>
                <a:lnTo>
                  <a:pt x="4191000" y="4438650"/>
                </a:lnTo>
                <a:cubicBezTo>
                  <a:pt x="4191000" y="4480734"/>
                  <a:pt x="4156884" y="4514850"/>
                  <a:pt x="4114800" y="4514850"/>
                </a:cubicBezTo>
                <a:lnTo>
                  <a:pt x="76200" y="4514850"/>
                </a:lnTo>
                <a:cubicBezTo>
                  <a:pt x="34116" y="4514850"/>
                  <a:pt x="0" y="4480734"/>
                  <a:pt x="0" y="4438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87730" y="1583055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潜在扩散模型思路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5350" y="2219325"/>
            <a:ext cx="37842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Stable Diffusion 不是直接在像素空间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5350" y="2495550"/>
            <a:ext cx="38171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中训练，而是先通过 VAE 将图像压缩到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5350" y="277177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潜在空间，再进行加噪和去噪，从而降低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5350" y="3048000"/>
            <a:ext cx="1133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计算成本。</a:t>
            </a:r>
          </a:p>
        </p:txBody>
      </p:sp>
      <p:sp>
        <p:nvSpPr>
          <p:cNvPr id="18" name="Freeform 18"/>
          <p:cNvSpPr/>
          <p:nvPr/>
        </p:nvSpPr>
        <p:spPr>
          <a:xfrm>
            <a:off x="914400" y="3714750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76200" y="0"/>
                </a:moveTo>
                <a:lnTo>
                  <a:pt x="3200400" y="0"/>
                </a:lnTo>
                <a:cubicBezTo>
                  <a:pt x="3242484" y="0"/>
                  <a:pt x="3276600" y="34116"/>
                  <a:pt x="3276600" y="76200"/>
                </a:cubicBezTo>
                <a:lnTo>
                  <a:pt x="3276600" y="533400"/>
                </a:lnTo>
                <a:cubicBezTo>
                  <a:pt x="3276600" y="575484"/>
                  <a:pt x="3242484" y="609600"/>
                  <a:pt x="3200400" y="609600"/>
                </a:cubicBezTo>
                <a:lnTo>
                  <a:pt x="76200" y="609600"/>
                </a:lnTo>
                <a:cubicBezTo>
                  <a:pt x="34116" y="609600"/>
                  <a:pt x="0" y="575484"/>
                  <a:pt x="0" y="533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914400" y="3714750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581025"/>
                </a:lnTo>
                <a:cubicBezTo>
                  <a:pt x="57150" y="596807"/>
                  <a:pt x="44357" y="609600"/>
                  <a:pt x="28575" y="609600"/>
                </a:cubicBezTo>
                <a:lnTo>
                  <a:pt x="28575" y="609600"/>
                </a:lnTo>
                <a:cubicBezTo>
                  <a:pt x="12793" y="609600"/>
                  <a:pt x="0" y="596807"/>
                  <a:pt x="0" y="581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02995" y="386048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文本编码器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8710" y="42710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将提示词转为语义特征</a:t>
            </a:r>
          </a:p>
        </p:txBody>
      </p:sp>
      <p:sp>
        <p:nvSpPr>
          <p:cNvPr id="22" name="Freeform 22"/>
          <p:cNvSpPr/>
          <p:nvPr/>
        </p:nvSpPr>
        <p:spPr>
          <a:xfrm>
            <a:off x="914400" y="4495800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76200" y="0"/>
                </a:moveTo>
                <a:lnTo>
                  <a:pt x="3200400" y="0"/>
                </a:lnTo>
                <a:cubicBezTo>
                  <a:pt x="3242484" y="0"/>
                  <a:pt x="3276600" y="34116"/>
                  <a:pt x="3276600" y="76200"/>
                </a:cubicBezTo>
                <a:lnTo>
                  <a:pt x="3276600" y="533400"/>
                </a:lnTo>
                <a:cubicBezTo>
                  <a:pt x="3276600" y="575484"/>
                  <a:pt x="3242484" y="609600"/>
                  <a:pt x="3200400" y="609600"/>
                </a:cubicBezTo>
                <a:lnTo>
                  <a:pt x="76200" y="609600"/>
                </a:lnTo>
                <a:cubicBezTo>
                  <a:pt x="34116" y="609600"/>
                  <a:pt x="0" y="575484"/>
                  <a:pt x="0" y="533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914400" y="4495800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581025"/>
                </a:lnTo>
                <a:cubicBezTo>
                  <a:pt x="57150" y="596807"/>
                  <a:pt x="44357" y="609600"/>
                  <a:pt x="28575" y="609600"/>
                </a:cubicBezTo>
                <a:lnTo>
                  <a:pt x="28575" y="609600"/>
                </a:lnTo>
                <a:cubicBezTo>
                  <a:pt x="12793" y="609600"/>
                  <a:pt x="0" y="596807"/>
                  <a:pt x="0" y="581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F497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02995" y="4641532"/>
            <a:ext cx="5985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UNet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8710" y="50520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在扩散过程中预测噪声</a:t>
            </a:r>
          </a:p>
        </p:txBody>
      </p:sp>
      <p:sp>
        <p:nvSpPr>
          <p:cNvPr id="26" name="Freeform 26"/>
          <p:cNvSpPr/>
          <p:nvPr/>
        </p:nvSpPr>
        <p:spPr>
          <a:xfrm>
            <a:off x="914400" y="5276850"/>
            <a:ext cx="3276600" cy="514350"/>
          </a:xfrm>
          <a:custGeom>
            <a:avLst/>
            <a:gdLst/>
            <a:ahLst/>
            <a:cxnLst/>
            <a:rect l="l" t="t" r="r" b="b"/>
            <a:pathLst>
              <a:path w="3276600" h="514350">
                <a:moveTo>
                  <a:pt x="76200" y="0"/>
                </a:moveTo>
                <a:lnTo>
                  <a:pt x="3200400" y="0"/>
                </a:lnTo>
                <a:cubicBezTo>
                  <a:pt x="3242484" y="0"/>
                  <a:pt x="3276600" y="34116"/>
                  <a:pt x="3276600" y="76200"/>
                </a:cubicBezTo>
                <a:lnTo>
                  <a:pt x="3276600" y="438150"/>
                </a:lnTo>
                <a:cubicBezTo>
                  <a:pt x="3276600" y="480234"/>
                  <a:pt x="3242484" y="514350"/>
                  <a:pt x="320040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914400" y="5276850"/>
            <a:ext cx="57150" cy="514350"/>
          </a:xfrm>
          <a:custGeom>
            <a:avLst/>
            <a:gdLst/>
            <a:ahLst/>
            <a:cxnLst/>
            <a:rect l="l" t="t" r="r" b="b"/>
            <a:pathLst>
              <a:path w="57150" h="5143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85775"/>
                </a:lnTo>
                <a:cubicBezTo>
                  <a:pt x="57150" y="501557"/>
                  <a:pt x="44357" y="514350"/>
                  <a:pt x="28575" y="514350"/>
                </a:cubicBezTo>
                <a:lnTo>
                  <a:pt x="28575" y="514350"/>
                </a:lnTo>
                <a:cubicBezTo>
                  <a:pt x="12793" y="514350"/>
                  <a:pt x="0" y="501557"/>
                  <a:pt x="0" y="4857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02995" y="542258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VAE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9662" y="584120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负责图像与潜在空间的编码解码</a:t>
            </a:r>
          </a:p>
        </p:txBody>
      </p:sp>
      <p:sp>
        <p:nvSpPr>
          <p:cNvPr id="30" name="Freeform 30"/>
          <p:cNvSpPr/>
          <p:nvPr/>
        </p:nvSpPr>
        <p:spPr>
          <a:xfrm>
            <a:off x="5143500" y="1428750"/>
            <a:ext cx="6191250" cy="4267200"/>
          </a:xfrm>
          <a:custGeom>
            <a:avLst/>
            <a:gdLst/>
            <a:ahLst/>
            <a:cxnLst/>
            <a:rect l="l" t="t" r="r" b="b"/>
            <a:pathLst>
              <a:path w="6191250" h="4267200">
                <a:moveTo>
                  <a:pt x="76200" y="0"/>
                </a:moveTo>
                <a:lnTo>
                  <a:pt x="6115050" y="0"/>
                </a:lnTo>
                <a:cubicBezTo>
                  <a:pt x="6157134" y="0"/>
                  <a:pt x="6191250" y="34116"/>
                  <a:pt x="6191250" y="76200"/>
                </a:cubicBezTo>
                <a:lnTo>
                  <a:pt x="6191250" y="4191000"/>
                </a:lnTo>
                <a:cubicBezTo>
                  <a:pt x="6191250" y="4233084"/>
                  <a:pt x="6157134" y="4267200"/>
                  <a:pt x="6115050" y="4267200"/>
                </a:cubicBezTo>
                <a:lnTo>
                  <a:pt x="76200" y="4267200"/>
                </a:lnTo>
                <a:cubicBezTo>
                  <a:pt x="34116" y="4267200"/>
                  <a:pt x="0" y="4233084"/>
                  <a:pt x="0" y="419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31" name="Imag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1657350"/>
            <a:ext cx="5250180" cy="371475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7067979" y="54873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图示：Stable Diffusion 架构流程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456183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技术基础：LoRA 微调原理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05/15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47663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冻结原始权重，用两个低秩矩阵近似表示权重更新量。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66750" y="1504950"/>
            <a:ext cx="4762500" cy="2000250"/>
          </a:xfrm>
          <a:custGeom>
            <a:avLst/>
            <a:gdLst/>
            <a:ahLst/>
            <a:cxnLst/>
            <a:rect l="l" t="t" r="r" b="b"/>
            <a:pathLst>
              <a:path w="4762500" h="2000250">
                <a:moveTo>
                  <a:pt x="76200" y="0"/>
                </a:moveTo>
                <a:lnTo>
                  <a:pt x="4686300" y="0"/>
                </a:lnTo>
                <a:cubicBezTo>
                  <a:pt x="4728384" y="0"/>
                  <a:pt x="4762500" y="34116"/>
                  <a:pt x="4762500" y="76200"/>
                </a:cubicBezTo>
                <a:lnTo>
                  <a:pt x="4762500" y="1924050"/>
                </a:lnTo>
                <a:cubicBezTo>
                  <a:pt x="4762500" y="1966134"/>
                  <a:pt x="4728384" y="2000250"/>
                  <a:pt x="4686300" y="2000250"/>
                </a:cubicBezTo>
                <a:lnTo>
                  <a:pt x="76200" y="2000250"/>
                </a:lnTo>
                <a:cubicBezTo>
                  <a:pt x="34116" y="2000250"/>
                  <a:pt x="0" y="1966134"/>
                  <a:pt x="0" y="1924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5355" y="1740218"/>
            <a:ext cx="254174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497D"/>
                </a:solidFill>
                <a:latin typeface="Consolas"/>
                <a:ea typeface="Microsoft YaHei"/>
                <a:cs typeface="Consolas"/>
              </a:rPr>
              <a:t>W' = W + ΔW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548" y="2401729"/>
            <a:ext cx="416902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ΔW ≈ B × A，训练时只更新 A/B 两个低秩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1548" y="2687479"/>
            <a:ext cx="349043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矩阵，原始大模型参数保持冻结。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81100" y="3048000"/>
            <a:ext cx="1238250" cy="266700"/>
          </a:xfrm>
          <a:custGeom>
            <a:avLst/>
            <a:gdLst/>
            <a:ahLst/>
            <a:cxnLst/>
            <a:rect l="l" t="t" r="r" b="b"/>
            <a:pathLst>
              <a:path w="1238250" h="26670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209550"/>
                </a:lnTo>
                <a:cubicBezTo>
                  <a:pt x="1238250" y="241113"/>
                  <a:pt x="1212663" y="266700"/>
                  <a:pt x="118110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7EEF5"/>
          </a:solidFill>
          <a:ln w="9525">
            <a:solidFill>
              <a:srgbClr val="D6DDD7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2724150" y="3048000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57150" y="0"/>
                </a:moveTo>
                <a:lnTo>
                  <a:pt x="723900" y="0"/>
                </a:lnTo>
                <a:cubicBezTo>
                  <a:pt x="755463" y="0"/>
                  <a:pt x="781050" y="25587"/>
                  <a:pt x="781050" y="57150"/>
                </a:cubicBezTo>
                <a:lnTo>
                  <a:pt x="781050" y="209550"/>
                </a:lnTo>
                <a:cubicBezTo>
                  <a:pt x="781050" y="241113"/>
                  <a:pt x="755463" y="266700"/>
                  <a:pt x="72390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3676650" y="3048000"/>
            <a:ext cx="781050" cy="266700"/>
          </a:xfrm>
          <a:custGeom>
            <a:avLst/>
            <a:gdLst/>
            <a:ahLst/>
            <a:cxnLst/>
            <a:rect l="l" t="t" r="r" b="b"/>
            <a:pathLst>
              <a:path w="781050" h="266700">
                <a:moveTo>
                  <a:pt x="57150" y="0"/>
                </a:moveTo>
                <a:lnTo>
                  <a:pt x="723900" y="0"/>
                </a:lnTo>
                <a:cubicBezTo>
                  <a:pt x="755463" y="0"/>
                  <a:pt x="781050" y="25587"/>
                  <a:pt x="781050" y="57150"/>
                </a:cubicBezTo>
                <a:lnTo>
                  <a:pt x="781050" y="209550"/>
                </a:lnTo>
                <a:cubicBezTo>
                  <a:pt x="781050" y="241113"/>
                  <a:pt x="755463" y="266700"/>
                  <a:pt x="72390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4EBD0"/>
          </a:solidFill>
          <a:ln w="9525">
            <a:solidFill>
              <a:srgbClr val="D6DDD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09200" y="3125152"/>
            <a:ext cx="8011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原始权重 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82813" y="3125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矩阵 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35313" y="3125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矩阵 A</a:t>
            </a:r>
          </a:p>
        </p:txBody>
      </p:sp>
      <p:sp>
        <p:nvSpPr>
          <p:cNvPr id="22" name="Freeform 22"/>
          <p:cNvSpPr/>
          <p:nvPr/>
        </p:nvSpPr>
        <p:spPr>
          <a:xfrm>
            <a:off x="6096000" y="15049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914400"/>
                </a:lnTo>
                <a:cubicBezTo>
                  <a:pt x="2381250" y="956484"/>
                  <a:pt x="2347134" y="990600"/>
                  <a:pt x="2305050" y="990600"/>
                </a:cubicBezTo>
                <a:lnTo>
                  <a:pt x="76200" y="990600"/>
                </a:lnTo>
                <a:cubicBezTo>
                  <a:pt x="34116" y="990600"/>
                  <a:pt x="0" y="956484"/>
                  <a:pt x="0" y="914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35662" y="1758315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训练参数更少</a:t>
            </a:r>
          </a:p>
        </p:txBody>
      </p:sp>
      <p:sp>
        <p:nvSpPr>
          <p:cNvPr id="24" name="Freeform 24"/>
          <p:cNvSpPr/>
          <p:nvPr/>
        </p:nvSpPr>
        <p:spPr>
          <a:xfrm>
            <a:off x="8858250" y="15049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914400"/>
                </a:lnTo>
                <a:cubicBezTo>
                  <a:pt x="2381250" y="956484"/>
                  <a:pt x="2347134" y="990600"/>
                  <a:pt x="2305050" y="990600"/>
                </a:cubicBezTo>
                <a:lnTo>
                  <a:pt x="76200" y="990600"/>
                </a:lnTo>
                <a:cubicBezTo>
                  <a:pt x="34116" y="990600"/>
                  <a:pt x="0" y="956484"/>
                  <a:pt x="0" y="914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197912" y="1758315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显存占用更低</a:t>
            </a:r>
          </a:p>
        </p:txBody>
      </p:sp>
      <p:sp>
        <p:nvSpPr>
          <p:cNvPr id="26" name="Freeform 26"/>
          <p:cNvSpPr/>
          <p:nvPr/>
        </p:nvSpPr>
        <p:spPr>
          <a:xfrm>
            <a:off x="6096000" y="28765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914400"/>
                </a:lnTo>
                <a:cubicBezTo>
                  <a:pt x="2381250" y="956484"/>
                  <a:pt x="2347134" y="990600"/>
                  <a:pt x="2305050" y="990600"/>
                </a:cubicBezTo>
                <a:lnTo>
                  <a:pt x="76200" y="990600"/>
                </a:lnTo>
                <a:cubicBezTo>
                  <a:pt x="34116" y="990600"/>
                  <a:pt x="0" y="956484"/>
                  <a:pt x="0" y="914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35662" y="3129915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权重文件更小</a:t>
            </a:r>
          </a:p>
        </p:txBody>
      </p:sp>
      <p:sp>
        <p:nvSpPr>
          <p:cNvPr id="28" name="Freeform 28"/>
          <p:cNvSpPr/>
          <p:nvPr/>
        </p:nvSpPr>
        <p:spPr>
          <a:xfrm>
            <a:off x="8858250" y="28765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914400"/>
                </a:lnTo>
                <a:cubicBezTo>
                  <a:pt x="2381250" y="956484"/>
                  <a:pt x="2347134" y="990600"/>
                  <a:pt x="2305050" y="990600"/>
                </a:cubicBezTo>
                <a:lnTo>
                  <a:pt x="76200" y="990600"/>
                </a:lnTo>
                <a:cubicBezTo>
                  <a:pt x="34116" y="990600"/>
                  <a:pt x="0" y="956484"/>
                  <a:pt x="0" y="914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025390" y="3129915"/>
            <a:ext cx="20469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普通 GPU 可训练</a:t>
            </a:r>
          </a:p>
        </p:txBody>
      </p:sp>
      <p:sp>
        <p:nvSpPr>
          <p:cNvPr id="30" name="Freeform 30"/>
          <p:cNvSpPr/>
          <p:nvPr/>
        </p:nvSpPr>
        <p:spPr>
          <a:xfrm>
            <a:off x="6096000" y="4438650"/>
            <a:ext cx="5143500" cy="1162050"/>
          </a:xfrm>
          <a:custGeom>
            <a:avLst/>
            <a:gdLst/>
            <a:ahLst/>
            <a:cxnLst/>
            <a:rect l="l" t="t" r="r" b="b"/>
            <a:pathLst>
              <a:path w="5143500" h="11620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085850"/>
                </a:lnTo>
                <a:cubicBezTo>
                  <a:pt x="5143500" y="1127934"/>
                  <a:pt x="5109384" y="1162050"/>
                  <a:pt x="5067300" y="1162050"/>
                </a:cubicBezTo>
                <a:lnTo>
                  <a:pt x="76200" y="1162050"/>
                </a:lnTo>
                <a:cubicBezTo>
                  <a:pt x="34116" y="1162050"/>
                  <a:pt x="0" y="1127934"/>
                  <a:pt x="0" y="1085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77940" y="46634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7D6B"/>
                </a:solidFill>
                <a:latin typeface="Arial"/>
                <a:ea typeface="SimHei"/>
                <a:cs typeface="Arial"/>
              </a:rPr>
              <a:t>本文实现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81750" y="5095875"/>
            <a:ext cx="456199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LoRA 被注入到 Stable Diffusion v1.5 的 UNet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81750" y="537210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模块中，用于学习水墨画风格特征。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整体研究流程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06/15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五个阶段串起数据、训练、生成和评价。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723900" y="2190750"/>
            <a:ext cx="2038350" cy="2190750"/>
          </a:xfrm>
          <a:custGeom>
            <a:avLst/>
            <a:gdLst/>
            <a:ahLst/>
            <a:cxnLst/>
            <a:rect l="l" t="t" r="r" b="b"/>
            <a:pathLst>
              <a:path w="2038350" h="2190750">
                <a:moveTo>
                  <a:pt x="76200" y="0"/>
                </a:moveTo>
                <a:lnTo>
                  <a:pt x="1962150" y="0"/>
                </a:lnTo>
                <a:cubicBezTo>
                  <a:pt x="2004234" y="0"/>
                  <a:pt x="2038350" y="34116"/>
                  <a:pt x="2038350" y="76200"/>
                </a:cubicBezTo>
                <a:lnTo>
                  <a:pt x="2038350" y="2114550"/>
                </a:lnTo>
                <a:cubicBezTo>
                  <a:pt x="2038350" y="2156634"/>
                  <a:pt x="2004234" y="2190750"/>
                  <a:pt x="196215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933450" y="188595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76200" y="0"/>
                </a:moveTo>
                <a:lnTo>
                  <a:pt x="438150" y="0"/>
                </a:lnTo>
                <a:cubicBezTo>
                  <a:pt x="480234" y="0"/>
                  <a:pt x="514350" y="34116"/>
                  <a:pt x="514350" y="76200"/>
                </a:cubicBezTo>
                <a:lnTo>
                  <a:pt x="514350" y="438150"/>
                </a:lnTo>
                <a:cubicBezTo>
                  <a:pt x="514350" y="480234"/>
                  <a:pt x="480234" y="514350"/>
                  <a:pt x="4381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50450" y="2034540"/>
            <a:ext cx="2803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9554" y="26631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数据集构建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346" y="325326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收集整理中国画图文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094" y="3481864"/>
            <a:ext cx="40481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18" name="Line 18"/>
          <p:cNvSpPr/>
          <p:nvPr/>
        </p:nvSpPr>
        <p:spPr>
          <a:xfrm>
            <a:off x="2809875" y="329565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8575" cap="rnd">
            <a:solidFill>
              <a:srgbClr val="C9A14B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2838450" y="325755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2971800" y="2190750"/>
            <a:ext cx="2038350" cy="2190750"/>
          </a:xfrm>
          <a:custGeom>
            <a:avLst/>
            <a:gdLst/>
            <a:ahLst/>
            <a:cxnLst/>
            <a:rect l="l" t="t" r="r" b="b"/>
            <a:pathLst>
              <a:path w="2038350" h="2190750">
                <a:moveTo>
                  <a:pt x="76200" y="0"/>
                </a:moveTo>
                <a:lnTo>
                  <a:pt x="1962150" y="0"/>
                </a:lnTo>
                <a:cubicBezTo>
                  <a:pt x="2004234" y="0"/>
                  <a:pt x="2038350" y="34116"/>
                  <a:pt x="2038350" y="76200"/>
                </a:cubicBezTo>
                <a:lnTo>
                  <a:pt x="2038350" y="2114550"/>
                </a:lnTo>
                <a:cubicBezTo>
                  <a:pt x="2038350" y="2156634"/>
                  <a:pt x="2004234" y="2190750"/>
                  <a:pt x="196215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3181350" y="188595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76200" y="0"/>
                </a:moveTo>
                <a:lnTo>
                  <a:pt x="438150" y="0"/>
                </a:lnTo>
                <a:cubicBezTo>
                  <a:pt x="480234" y="0"/>
                  <a:pt x="514350" y="34116"/>
                  <a:pt x="514350" y="76200"/>
                </a:cubicBezTo>
                <a:lnTo>
                  <a:pt x="514350" y="438150"/>
                </a:lnTo>
                <a:cubicBezTo>
                  <a:pt x="514350" y="480234"/>
                  <a:pt x="480234" y="514350"/>
                  <a:pt x="4381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263846" y="203454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87454" y="26631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数据预处理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46246" y="325326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512×512 与 metadat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88324" y="3481864"/>
            <a:ext cx="12241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a_train.jsonl</a:t>
            </a:r>
          </a:p>
        </p:txBody>
      </p:sp>
      <p:sp>
        <p:nvSpPr>
          <p:cNvPr id="26" name="Line 26"/>
          <p:cNvSpPr/>
          <p:nvPr/>
        </p:nvSpPr>
        <p:spPr>
          <a:xfrm>
            <a:off x="5057775" y="329565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8575" cap="rnd">
            <a:solidFill>
              <a:srgbClr val="C9A14B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5086350" y="325755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219700" y="2190750"/>
            <a:ext cx="2038350" cy="2190750"/>
          </a:xfrm>
          <a:custGeom>
            <a:avLst/>
            <a:gdLst/>
            <a:ahLst/>
            <a:cxnLst/>
            <a:rect l="l" t="t" r="r" b="b"/>
            <a:pathLst>
              <a:path w="2038350" h="2190750">
                <a:moveTo>
                  <a:pt x="76200" y="0"/>
                </a:moveTo>
                <a:lnTo>
                  <a:pt x="1962150" y="0"/>
                </a:lnTo>
                <a:cubicBezTo>
                  <a:pt x="2004234" y="0"/>
                  <a:pt x="2038350" y="34116"/>
                  <a:pt x="2038350" y="76200"/>
                </a:cubicBezTo>
                <a:lnTo>
                  <a:pt x="2038350" y="2114550"/>
                </a:lnTo>
                <a:cubicBezTo>
                  <a:pt x="2038350" y="2156634"/>
                  <a:pt x="2004234" y="2190750"/>
                  <a:pt x="196215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5429250" y="188595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76200" y="0"/>
                </a:moveTo>
                <a:lnTo>
                  <a:pt x="438150" y="0"/>
                </a:lnTo>
                <a:cubicBezTo>
                  <a:pt x="480234" y="0"/>
                  <a:pt x="514350" y="34116"/>
                  <a:pt x="514350" y="76200"/>
                </a:cubicBezTo>
                <a:lnTo>
                  <a:pt x="514350" y="438150"/>
                </a:lnTo>
                <a:cubicBezTo>
                  <a:pt x="514350" y="480234"/>
                  <a:pt x="480234" y="514350"/>
                  <a:pt x="4381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11746" y="203454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04362" y="2663190"/>
            <a:ext cx="12878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LoRA 微调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47592" y="3253264"/>
            <a:ext cx="180141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UNet 注入适配器并训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39001" y="3481864"/>
            <a:ext cx="2185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练</a:t>
            </a:r>
          </a:p>
        </p:txBody>
      </p:sp>
      <p:sp>
        <p:nvSpPr>
          <p:cNvPr id="34" name="Line 34"/>
          <p:cNvSpPr/>
          <p:nvPr/>
        </p:nvSpPr>
        <p:spPr>
          <a:xfrm>
            <a:off x="7305675" y="329565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8575" cap="rnd">
            <a:solidFill>
              <a:srgbClr val="C9A14B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7334250" y="325755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7467600" y="2190750"/>
            <a:ext cx="2038350" cy="2190750"/>
          </a:xfrm>
          <a:custGeom>
            <a:avLst/>
            <a:gdLst/>
            <a:ahLst/>
            <a:cxnLst/>
            <a:rect l="l" t="t" r="r" b="b"/>
            <a:pathLst>
              <a:path w="2038350" h="2190750">
                <a:moveTo>
                  <a:pt x="76200" y="0"/>
                </a:moveTo>
                <a:lnTo>
                  <a:pt x="1962150" y="0"/>
                </a:lnTo>
                <a:cubicBezTo>
                  <a:pt x="2004234" y="0"/>
                  <a:pt x="2038350" y="34116"/>
                  <a:pt x="2038350" y="76200"/>
                </a:cubicBezTo>
                <a:lnTo>
                  <a:pt x="2038350" y="2114550"/>
                </a:lnTo>
                <a:cubicBezTo>
                  <a:pt x="2038350" y="2156634"/>
                  <a:pt x="2004234" y="2190750"/>
                  <a:pt x="196215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7677150" y="188595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76200" y="0"/>
                </a:moveTo>
                <a:lnTo>
                  <a:pt x="438150" y="0"/>
                </a:lnTo>
                <a:cubicBezTo>
                  <a:pt x="480234" y="0"/>
                  <a:pt x="514350" y="34116"/>
                  <a:pt x="514350" y="76200"/>
                </a:cubicBezTo>
                <a:lnTo>
                  <a:pt x="514350" y="438150"/>
                </a:lnTo>
                <a:cubicBezTo>
                  <a:pt x="514350" y="480234"/>
                  <a:pt x="480234" y="514350"/>
                  <a:pt x="4381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759646" y="203454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21271" y="26631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图像生成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60667" y="3253264"/>
            <a:ext cx="167106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加载 LoRA 权重推理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93794" y="3481864"/>
            <a:ext cx="40481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42" name="Line 42"/>
          <p:cNvSpPr/>
          <p:nvPr/>
        </p:nvSpPr>
        <p:spPr>
          <a:xfrm>
            <a:off x="9553575" y="329565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8575" cap="rnd">
            <a:solidFill>
              <a:srgbClr val="C9A14B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9582150" y="325755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9715500" y="2190750"/>
            <a:ext cx="2038350" cy="2190750"/>
          </a:xfrm>
          <a:custGeom>
            <a:avLst/>
            <a:gdLst/>
            <a:ahLst/>
            <a:cxnLst/>
            <a:rect l="l" t="t" r="r" b="b"/>
            <a:pathLst>
              <a:path w="2038350" h="2190750">
                <a:moveTo>
                  <a:pt x="76200" y="0"/>
                </a:moveTo>
                <a:lnTo>
                  <a:pt x="1962150" y="0"/>
                </a:lnTo>
                <a:cubicBezTo>
                  <a:pt x="2004234" y="0"/>
                  <a:pt x="2038350" y="34116"/>
                  <a:pt x="2038350" y="76200"/>
                </a:cubicBezTo>
                <a:lnTo>
                  <a:pt x="2038350" y="2114550"/>
                </a:lnTo>
                <a:cubicBezTo>
                  <a:pt x="2038350" y="2156634"/>
                  <a:pt x="2004234" y="2190750"/>
                  <a:pt x="196215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9925050" y="188595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76200" y="0"/>
                </a:moveTo>
                <a:lnTo>
                  <a:pt x="438150" y="0"/>
                </a:lnTo>
                <a:cubicBezTo>
                  <a:pt x="480234" y="0"/>
                  <a:pt x="514350" y="34116"/>
                  <a:pt x="514350" y="76200"/>
                </a:cubicBezTo>
                <a:lnTo>
                  <a:pt x="514350" y="438150"/>
                </a:lnTo>
                <a:cubicBezTo>
                  <a:pt x="514350" y="480234"/>
                  <a:pt x="480234" y="514350"/>
                  <a:pt x="4381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0007546" y="203454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9171" y="26631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指标评估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50465" y="3253264"/>
            <a:ext cx="15872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loss、可视化、FID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55480" y="348186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综合分析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064332" y="5115401"/>
            <a:ext cx="806333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b="1" dirty="0">
                <a:solidFill>
                  <a:srgbClr val="1F497D"/>
                </a:solidFill>
                <a:latin typeface="Arial"/>
                <a:ea typeface="Microsoft YaHei"/>
                <a:cs typeface="Arial"/>
              </a:rPr>
              <a:t>数据集构建 → LoRA微调 → 图像生成 → 结果对比 → 指标评估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35842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数据集构建与预处理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07/15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62549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训练数据来自公开中国画图文数据集，整理后共 2192 条图文配对记录。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7700" y="1504950"/>
            <a:ext cx="1619250" cy="1066800"/>
          </a:xfrm>
          <a:custGeom>
            <a:avLst/>
            <a:gdLst/>
            <a:ahLst/>
            <a:cxnLst/>
            <a:rect l="l" t="t" r="r" b="b"/>
            <a:pathLst>
              <a:path w="1619250" h="1066800">
                <a:moveTo>
                  <a:pt x="76200" y="0"/>
                </a:moveTo>
                <a:lnTo>
                  <a:pt x="1543050" y="0"/>
                </a:lnTo>
                <a:cubicBezTo>
                  <a:pt x="1585134" y="0"/>
                  <a:pt x="1619250" y="34116"/>
                  <a:pt x="1619250" y="76200"/>
                </a:cubicBezTo>
                <a:lnTo>
                  <a:pt x="1619250" y="990600"/>
                </a:lnTo>
                <a:cubicBezTo>
                  <a:pt x="1619250" y="1032684"/>
                  <a:pt x="1585134" y="1066800"/>
                  <a:pt x="154305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43667" y="1667828"/>
            <a:ext cx="82731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2192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119" y="21645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图文配对记录</a:t>
            </a:r>
          </a:p>
        </p:txBody>
      </p:sp>
      <p:sp>
        <p:nvSpPr>
          <p:cNvPr id="15" name="Freeform 15"/>
          <p:cNvSpPr/>
          <p:nvPr/>
        </p:nvSpPr>
        <p:spPr>
          <a:xfrm>
            <a:off x="2457450" y="1504950"/>
            <a:ext cx="1619250" cy="1066800"/>
          </a:xfrm>
          <a:custGeom>
            <a:avLst/>
            <a:gdLst/>
            <a:ahLst/>
            <a:cxnLst/>
            <a:rect l="l" t="t" r="r" b="b"/>
            <a:pathLst>
              <a:path w="1619250" h="1066800">
                <a:moveTo>
                  <a:pt x="76200" y="0"/>
                </a:moveTo>
                <a:lnTo>
                  <a:pt x="1543050" y="0"/>
                </a:lnTo>
                <a:cubicBezTo>
                  <a:pt x="1585134" y="0"/>
                  <a:pt x="1619250" y="34116"/>
                  <a:pt x="1619250" y="76200"/>
                </a:cubicBezTo>
                <a:lnTo>
                  <a:pt x="1619250" y="990600"/>
                </a:lnTo>
                <a:cubicBezTo>
                  <a:pt x="1619250" y="1032684"/>
                  <a:pt x="1585134" y="1066800"/>
                  <a:pt x="154305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579683" y="1667828"/>
            <a:ext cx="13747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F497D"/>
                </a:solidFill>
                <a:latin typeface="Arial"/>
                <a:ea typeface="Microsoft YaHei"/>
                <a:cs typeface="Arial"/>
              </a:rPr>
              <a:t>512×512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59869" y="21645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统一图像尺寸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7200" y="1504950"/>
            <a:ext cx="1619250" cy="1066800"/>
          </a:xfrm>
          <a:custGeom>
            <a:avLst/>
            <a:gdLst/>
            <a:ahLst/>
            <a:cxnLst/>
            <a:rect l="l" t="t" r="r" b="b"/>
            <a:pathLst>
              <a:path w="1619250" h="1066800">
                <a:moveTo>
                  <a:pt x="76200" y="0"/>
                </a:moveTo>
                <a:lnTo>
                  <a:pt x="1543050" y="0"/>
                </a:lnTo>
                <a:cubicBezTo>
                  <a:pt x="1585134" y="0"/>
                  <a:pt x="1619250" y="34116"/>
                  <a:pt x="1619250" y="76200"/>
                </a:cubicBezTo>
                <a:lnTo>
                  <a:pt x="1619250" y="990600"/>
                </a:lnTo>
                <a:cubicBezTo>
                  <a:pt x="1619250" y="1032684"/>
                  <a:pt x="1585134" y="1066800"/>
                  <a:pt x="1543050" y="1066800"/>
                </a:cubicBezTo>
                <a:lnTo>
                  <a:pt x="76200" y="1066800"/>
                </a:lnTo>
                <a:cubicBezTo>
                  <a:pt x="34116" y="1066800"/>
                  <a:pt x="0" y="1032684"/>
                  <a:pt x="0" y="990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721825" y="1667828"/>
            <a:ext cx="71000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C9A14B"/>
                </a:solidFill>
                <a:latin typeface="Arial"/>
                <a:ea typeface="Microsoft YaHei"/>
                <a:cs typeface="Arial"/>
              </a:rPr>
              <a:t>RGB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9619" y="21645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统一颜色格式</a:t>
            </a:r>
          </a:p>
        </p:txBody>
      </p:sp>
      <p:sp>
        <p:nvSpPr>
          <p:cNvPr id="21" name="Freeform 21"/>
          <p:cNvSpPr/>
          <p:nvPr/>
        </p:nvSpPr>
        <p:spPr>
          <a:xfrm>
            <a:off x="647700" y="2895600"/>
            <a:ext cx="5238750" cy="2038350"/>
          </a:xfrm>
          <a:custGeom>
            <a:avLst/>
            <a:gdLst/>
            <a:ahLst/>
            <a:cxnLst/>
            <a:rect l="l" t="t" r="r" b="b"/>
            <a:pathLst>
              <a:path w="5238750" h="2038350">
                <a:moveTo>
                  <a:pt x="76200" y="0"/>
                </a:moveTo>
                <a:lnTo>
                  <a:pt x="5162550" y="0"/>
                </a:lnTo>
                <a:cubicBezTo>
                  <a:pt x="5204634" y="0"/>
                  <a:pt x="5238750" y="34116"/>
                  <a:pt x="5238750" y="76200"/>
                </a:cubicBezTo>
                <a:lnTo>
                  <a:pt x="5238750" y="1962150"/>
                </a:lnTo>
                <a:cubicBezTo>
                  <a:pt x="5238750" y="2004234"/>
                  <a:pt x="5204634" y="2038350"/>
                  <a:pt x="5162550" y="2038350"/>
                </a:cubicBezTo>
                <a:lnTo>
                  <a:pt x="76200" y="2038350"/>
                </a:lnTo>
                <a:cubicBezTo>
                  <a:pt x="34116" y="2038350"/>
                  <a:pt x="0" y="2004234"/>
                  <a:pt x="0" y="1962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785" y="3142298"/>
            <a:ext cx="154471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预处理要点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2500" y="3705225"/>
            <a:ext cx="25026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图像统一转换为 RGB 格式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2500" y="4067175"/>
            <a:ext cx="23712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尺寸统一处理为 512×512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2500" y="4429125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文本描述作为提示词输入文本编码器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2500" y="4791075"/>
            <a:ext cx="41457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metadata_train.jsonl 建立图文对应关系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19850" y="13525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76200" y="0"/>
                </a:moveTo>
                <a:lnTo>
                  <a:pt x="1943100" y="0"/>
                </a:lnTo>
                <a:cubicBezTo>
                  <a:pt x="1985184" y="0"/>
                  <a:pt x="2019300" y="34116"/>
                  <a:pt x="2019300" y="76200"/>
                </a:cubicBezTo>
                <a:lnTo>
                  <a:pt x="2019300" y="1943100"/>
                </a:lnTo>
                <a:cubicBezTo>
                  <a:pt x="2019300" y="1985184"/>
                  <a:pt x="1985184" y="2019300"/>
                  <a:pt x="1943100" y="2019300"/>
                </a:cubicBezTo>
                <a:lnTo>
                  <a:pt x="76200" y="2019300"/>
                </a:lnTo>
                <a:cubicBezTo>
                  <a:pt x="34116" y="2019300"/>
                  <a:pt x="0" y="1985184"/>
                  <a:pt x="0" y="1943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28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1428750"/>
            <a:ext cx="1866900" cy="1866900"/>
          </a:xfrm>
          <a:prstGeom prst="rect">
            <a:avLst/>
          </a:prstGeom>
        </p:spPr>
      </p:pic>
      <p:sp>
        <p:nvSpPr>
          <p:cNvPr id="29" name="Freeform 29"/>
          <p:cNvSpPr/>
          <p:nvPr/>
        </p:nvSpPr>
        <p:spPr>
          <a:xfrm>
            <a:off x="8667750" y="13525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76200" y="0"/>
                </a:moveTo>
                <a:lnTo>
                  <a:pt x="1943100" y="0"/>
                </a:lnTo>
                <a:cubicBezTo>
                  <a:pt x="1985184" y="0"/>
                  <a:pt x="2019300" y="34116"/>
                  <a:pt x="2019300" y="76200"/>
                </a:cubicBezTo>
                <a:lnTo>
                  <a:pt x="2019300" y="1943100"/>
                </a:lnTo>
                <a:cubicBezTo>
                  <a:pt x="2019300" y="1985184"/>
                  <a:pt x="1985184" y="2019300"/>
                  <a:pt x="1943100" y="2019300"/>
                </a:cubicBezTo>
                <a:lnTo>
                  <a:pt x="76200" y="2019300"/>
                </a:lnTo>
                <a:cubicBezTo>
                  <a:pt x="34116" y="2019300"/>
                  <a:pt x="0" y="1985184"/>
                  <a:pt x="0" y="1943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30" name="Imag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1428750"/>
            <a:ext cx="1866900" cy="1866900"/>
          </a:xfrm>
          <a:prstGeom prst="rect">
            <a:avLst/>
          </a:prstGeom>
        </p:spPr>
      </p:pic>
      <p:sp>
        <p:nvSpPr>
          <p:cNvPr id="31" name="Freeform 31"/>
          <p:cNvSpPr/>
          <p:nvPr/>
        </p:nvSpPr>
        <p:spPr>
          <a:xfrm>
            <a:off x="6419850" y="36004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76200" y="0"/>
                </a:moveTo>
                <a:lnTo>
                  <a:pt x="1943100" y="0"/>
                </a:lnTo>
                <a:cubicBezTo>
                  <a:pt x="1985184" y="0"/>
                  <a:pt x="2019300" y="34116"/>
                  <a:pt x="2019300" y="76200"/>
                </a:cubicBezTo>
                <a:lnTo>
                  <a:pt x="2019300" y="1943100"/>
                </a:lnTo>
                <a:cubicBezTo>
                  <a:pt x="2019300" y="1985184"/>
                  <a:pt x="1985184" y="2019300"/>
                  <a:pt x="1943100" y="2019300"/>
                </a:cubicBezTo>
                <a:lnTo>
                  <a:pt x="76200" y="2019300"/>
                </a:lnTo>
                <a:cubicBezTo>
                  <a:pt x="34116" y="2019300"/>
                  <a:pt x="0" y="1985184"/>
                  <a:pt x="0" y="1943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32" name="Imag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50" y="3676650"/>
            <a:ext cx="1866900" cy="1866900"/>
          </a:xfrm>
          <a:prstGeom prst="rect">
            <a:avLst/>
          </a:prstGeom>
        </p:spPr>
      </p:pic>
      <p:sp>
        <p:nvSpPr>
          <p:cNvPr id="33" name="Freeform 33"/>
          <p:cNvSpPr/>
          <p:nvPr/>
        </p:nvSpPr>
        <p:spPr>
          <a:xfrm>
            <a:off x="8667750" y="36004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76200" y="0"/>
                </a:moveTo>
                <a:lnTo>
                  <a:pt x="1943100" y="0"/>
                </a:lnTo>
                <a:cubicBezTo>
                  <a:pt x="1985184" y="0"/>
                  <a:pt x="2019300" y="34116"/>
                  <a:pt x="2019300" y="76200"/>
                </a:cubicBezTo>
                <a:lnTo>
                  <a:pt x="2019300" y="1943100"/>
                </a:lnTo>
                <a:cubicBezTo>
                  <a:pt x="2019300" y="1985184"/>
                  <a:pt x="1985184" y="2019300"/>
                  <a:pt x="1943100" y="2019300"/>
                </a:cubicBezTo>
                <a:lnTo>
                  <a:pt x="76200" y="2019300"/>
                </a:lnTo>
                <a:cubicBezTo>
                  <a:pt x="34116" y="2019300"/>
                  <a:pt x="0" y="1985184"/>
                  <a:pt x="0" y="1943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950" y="3676650"/>
            <a:ext cx="1866900" cy="18669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6236970" y="5775960"/>
            <a:ext cx="4937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训练集样例：山水、设色、笔墨和纸面质感共同构成目标风格。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280211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实验环境与工具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08/15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367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普通笔记本 GPU 条件下完成训练，体现 LoRA 的轻量化特点。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704850" y="1428750"/>
            <a:ext cx="4857750" cy="742950"/>
          </a:xfrm>
          <a:custGeom>
            <a:avLst/>
            <a:gdLst/>
            <a:ahLst/>
            <a:cxnLst/>
            <a:rect l="l" t="t" r="r" b="b"/>
            <a:pathLst>
              <a:path w="4857750" h="742950">
                <a:moveTo>
                  <a:pt x="76200" y="0"/>
                </a:moveTo>
                <a:lnTo>
                  <a:pt x="4781550" y="0"/>
                </a:lnTo>
                <a:cubicBezTo>
                  <a:pt x="4823634" y="0"/>
                  <a:pt x="4857750" y="34116"/>
                  <a:pt x="4857750" y="76200"/>
                </a:cubicBezTo>
                <a:lnTo>
                  <a:pt x="4857750" y="666750"/>
                </a:lnTo>
                <a:cubicBezTo>
                  <a:pt x="4857750" y="708834"/>
                  <a:pt x="4823634" y="742950"/>
                  <a:pt x="4781550" y="742950"/>
                </a:cubicBezTo>
                <a:lnTo>
                  <a:pt x="76200" y="742950"/>
                </a:lnTo>
                <a:cubicBezTo>
                  <a:pt x="34116" y="742950"/>
                  <a:pt x="0" y="708834"/>
                  <a:pt x="0" y="6667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69645" y="155543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5498" y="1563529"/>
            <a:ext cx="122350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Windows 11</a:t>
            </a:r>
          </a:p>
        </p:txBody>
      </p:sp>
      <p:sp>
        <p:nvSpPr>
          <p:cNvPr id="15" name="Freeform 15"/>
          <p:cNvSpPr/>
          <p:nvPr/>
        </p:nvSpPr>
        <p:spPr>
          <a:xfrm>
            <a:off x="704850" y="2476500"/>
            <a:ext cx="4857750" cy="742950"/>
          </a:xfrm>
          <a:custGeom>
            <a:avLst/>
            <a:gdLst/>
            <a:ahLst/>
            <a:cxnLst/>
            <a:rect l="l" t="t" r="r" b="b"/>
            <a:pathLst>
              <a:path w="4857750" h="742950">
                <a:moveTo>
                  <a:pt x="76200" y="0"/>
                </a:moveTo>
                <a:lnTo>
                  <a:pt x="4781550" y="0"/>
                </a:lnTo>
                <a:cubicBezTo>
                  <a:pt x="4823634" y="0"/>
                  <a:pt x="4857750" y="34116"/>
                  <a:pt x="4857750" y="76200"/>
                </a:cubicBezTo>
                <a:lnTo>
                  <a:pt x="4857750" y="666750"/>
                </a:lnTo>
                <a:cubicBezTo>
                  <a:pt x="4857750" y="708834"/>
                  <a:pt x="4823634" y="742950"/>
                  <a:pt x="4781550" y="742950"/>
                </a:cubicBezTo>
                <a:lnTo>
                  <a:pt x="76200" y="742950"/>
                </a:lnTo>
                <a:cubicBezTo>
                  <a:pt x="34116" y="742950"/>
                  <a:pt x="0" y="708834"/>
                  <a:pt x="0" y="6667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9645" y="2603182"/>
            <a:ext cx="4594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GPU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75498" y="2611279"/>
            <a:ext cx="339727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NVIDIA GeForce RTX 3060 Lapt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75498" y="2897029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op GPU 6GB</a:t>
            </a:r>
          </a:p>
        </p:txBody>
      </p:sp>
      <p:sp>
        <p:nvSpPr>
          <p:cNvPr id="19" name="Freeform 19"/>
          <p:cNvSpPr/>
          <p:nvPr/>
        </p:nvSpPr>
        <p:spPr>
          <a:xfrm>
            <a:off x="704850" y="3524250"/>
            <a:ext cx="4857750" cy="742950"/>
          </a:xfrm>
          <a:custGeom>
            <a:avLst/>
            <a:gdLst/>
            <a:ahLst/>
            <a:cxnLst/>
            <a:rect l="l" t="t" r="r" b="b"/>
            <a:pathLst>
              <a:path w="4857750" h="742950">
                <a:moveTo>
                  <a:pt x="76200" y="0"/>
                </a:moveTo>
                <a:lnTo>
                  <a:pt x="4781550" y="0"/>
                </a:lnTo>
                <a:cubicBezTo>
                  <a:pt x="4823634" y="0"/>
                  <a:pt x="4857750" y="34116"/>
                  <a:pt x="4857750" y="76200"/>
                </a:cubicBezTo>
                <a:lnTo>
                  <a:pt x="4857750" y="666750"/>
                </a:lnTo>
                <a:cubicBezTo>
                  <a:pt x="4857750" y="708834"/>
                  <a:pt x="4823634" y="742950"/>
                  <a:pt x="4781550" y="742950"/>
                </a:cubicBezTo>
                <a:lnTo>
                  <a:pt x="76200" y="742950"/>
                </a:lnTo>
                <a:cubicBezTo>
                  <a:pt x="34116" y="742950"/>
                  <a:pt x="0" y="708834"/>
                  <a:pt x="0" y="6667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69645" y="3650932"/>
            <a:ext cx="547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内存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5498" y="3659029"/>
            <a:ext cx="57137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32GB</a:t>
            </a:r>
          </a:p>
        </p:txBody>
      </p:sp>
      <p:sp>
        <p:nvSpPr>
          <p:cNvPr id="22" name="Freeform 22"/>
          <p:cNvSpPr/>
          <p:nvPr/>
        </p:nvSpPr>
        <p:spPr>
          <a:xfrm>
            <a:off x="704850" y="4572000"/>
            <a:ext cx="4857750" cy="742950"/>
          </a:xfrm>
          <a:custGeom>
            <a:avLst/>
            <a:gdLst/>
            <a:ahLst/>
            <a:cxnLst/>
            <a:rect l="l" t="t" r="r" b="b"/>
            <a:pathLst>
              <a:path w="4857750" h="742950">
                <a:moveTo>
                  <a:pt x="76200" y="0"/>
                </a:moveTo>
                <a:lnTo>
                  <a:pt x="4781550" y="0"/>
                </a:lnTo>
                <a:cubicBezTo>
                  <a:pt x="4823634" y="0"/>
                  <a:pt x="4857750" y="34116"/>
                  <a:pt x="4857750" y="76200"/>
                </a:cubicBezTo>
                <a:lnTo>
                  <a:pt x="4857750" y="666750"/>
                </a:lnTo>
                <a:cubicBezTo>
                  <a:pt x="4857750" y="708834"/>
                  <a:pt x="4823634" y="742950"/>
                  <a:pt x="4781550" y="742950"/>
                </a:cubicBezTo>
                <a:lnTo>
                  <a:pt x="76200" y="742950"/>
                </a:lnTo>
                <a:cubicBezTo>
                  <a:pt x="34116" y="742950"/>
                  <a:pt x="0" y="708834"/>
                  <a:pt x="0" y="6667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69645" y="46986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核心框架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75498" y="4706779"/>
            <a:ext cx="335241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PyTorch、Diffusers、Transfo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5498" y="4992529"/>
            <a:ext cx="289236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rmers、PEFT、Accelerate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1524000"/>
            <a:ext cx="4476750" cy="2971800"/>
          </a:xfrm>
          <a:custGeom>
            <a:avLst/>
            <a:gdLst/>
            <a:ahLst/>
            <a:cxnLst/>
            <a:rect l="l" t="t" r="r" b="b"/>
            <a:pathLst>
              <a:path w="4476750" h="2971800">
                <a:moveTo>
                  <a:pt x="76200" y="0"/>
                </a:moveTo>
                <a:lnTo>
                  <a:pt x="4400550" y="0"/>
                </a:lnTo>
                <a:cubicBezTo>
                  <a:pt x="4442634" y="0"/>
                  <a:pt x="4476750" y="34116"/>
                  <a:pt x="4476750" y="76200"/>
                </a:cubicBezTo>
                <a:lnTo>
                  <a:pt x="4476750" y="2895600"/>
                </a:lnTo>
                <a:cubicBezTo>
                  <a:pt x="4476750" y="2937684"/>
                  <a:pt x="4442634" y="2971800"/>
                  <a:pt x="4400550" y="2971800"/>
                </a:cubicBezTo>
                <a:lnTo>
                  <a:pt x="76200" y="2971800"/>
                </a:lnTo>
                <a:cubicBezTo>
                  <a:pt x="34116" y="2971800"/>
                  <a:pt x="0" y="2937684"/>
                  <a:pt x="0" y="2895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7EEF5"/>
          </a:solidFill>
          <a:ln w="9525">
            <a:solidFill>
              <a:srgbClr val="D6DDD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514868" y="1972628"/>
            <a:ext cx="202001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轻量化特点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76430" y="2728436"/>
            <a:ext cx="369689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冻结基础模型主体，仅训练 LoRA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13446" y="3042761"/>
            <a:ext cx="38228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适配参数，使个性化训练从高算力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33890" y="3357086"/>
            <a:ext cx="338197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服务器下沉到普通 GPU 环境。</a:t>
            </a:r>
          </a:p>
        </p:txBody>
      </p:sp>
      <p:sp>
        <p:nvSpPr>
          <p:cNvPr id="31" name="Freeform 31"/>
          <p:cNvSpPr/>
          <p:nvPr/>
        </p:nvSpPr>
        <p:spPr>
          <a:xfrm>
            <a:off x="7048500" y="4781550"/>
            <a:ext cx="2952750" cy="685800"/>
          </a:xfrm>
          <a:custGeom>
            <a:avLst/>
            <a:gdLst/>
            <a:ahLst/>
            <a:cxnLst/>
            <a:rect l="l" t="t" r="r" b="b"/>
            <a:pathLst>
              <a:path w="2952750" h="685800">
                <a:moveTo>
                  <a:pt x="76200" y="0"/>
                </a:moveTo>
                <a:lnTo>
                  <a:pt x="2876550" y="0"/>
                </a:lnTo>
                <a:cubicBezTo>
                  <a:pt x="2918634" y="0"/>
                  <a:pt x="2952750" y="34116"/>
                  <a:pt x="2952750" y="76200"/>
                </a:cubicBezTo>
                <a:lnTo>
                  <a:pt x="2952750" y="609600"/>
                </a:lnTo>
                <a:cubicBezTo>
                  <a:pt x="2952750" y="651684"/>
                  <a:pt x="2918634" y="685800"/>
                  <a:pt x="287655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214339" y="5017294"/>
            <a:ext cx="262107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6GB 显存条件可复现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338868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LoRA 微调实现过程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09/15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6649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训练阶段冻结 VAE、文本编码器和 UNet 原始参数，仅更新新增 LoRA 参数。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838200" y="1571625"/>
            <a:ext cx="4286250" cy="571500"/>
          </a:xfrm>
          <a:custGeom>
            <a:avLst/>
            <a:gdLst/>
            <a:ahLst/>
            <a:cxnLst/>
            <a:rect l="l" t="t" r="r" b="b"/>
            <a:pathLst>
              <a:path w="4286250" h="571500">
                <a:moveTo>
                  <a:pt x="76200" y="0"/>
                </a:moveTo>
                <a:lnTo>
                  <a:pt x="4210050" y="0"/>
                </a:lnTo>
                <a:cubicBezTo>
                  <a:pt x="4252134" y="0"/>
                  <a:pt x="4286250" y="34116"/>
                  <a:pt x="4286250" y="76200"/>
                </a:cubicBezTo>
                <a:lnTo>
                  <a:pt x="4286250" y="495300"/>
                </a:lnTo>
                <a:cubicBezTo>
                  <a:pt x="4286250" y="537384"/>
                  <a:pt x="4252134" y="571500"/>
                  <a:pt x="42100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838200" y="157162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76200" y="0"/>
                </a:moveTo>
                <a:lnTo>
                  <a:pt x="476250" y="0"/>
                </a:lnTo>
                <a:cubicBezTo>
                  <a:pt x="518334" y="0"/>
                  <a:pt x="552450" y="34116"/>
                  <a:pt x="552450" y="76200"/>
                </a:cubicBezTo>
                <a:lnTo>
                  <a:pt x="552450" y="495300"/>
                </a:lnTo>
                <a:cubicBezTo>
                  <a:pt x="552450" y="537384"/>
                  <a:pt x="518334" y="571500"/>
                  <a:pt x="4762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50160" y="1739265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1148" y="1639729"/>
            <a:ext cx="100612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图像编码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22258" y="1672114"/>
            <a:ext cx="244385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VAE 将输入图像压缩到潜在空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22258" y="1900714"/>
            <a:ext cx="2185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间</a:t>
            </a:r>
          </a:p>
        </p:txBody>
      </p:sp>
      <p:sp>
        <p:nvSpPr>
          <p:cNvPr id="18" name="Line 18"/>
          <p:cNvSpPr/>
          <p:nvPr/>
        </p:nvSpPr>
        <p:spPr>
          <a:xfrm>
            <a:off x="1114425" y="214312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 cap="rnd">
            <a:solidFill>
              <a:srgbClr val="BCCBC4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838200" y="2390775"/>
            <a:ext cx="4286250" cy="571500"/>
          </a:xfrm>
          <a:custGeom>
            <a:avLst/>
            <a:gdLst/>
            <a:ahLst/>
            <a:cxnLst/>
            <a:rect l="l" t="t" r="r" b="b"/>
            <a:pathLst>
              <a:path w="4286250" h="571500">
                <a:moveTo>
                  <a:pt x="76200" y="0"/>
                </a:moveTo>
                <a:lnTo>
                  <a:pt x="4210050" y="0"/>
                </a:lnTo>
                <a:cubicBezTo>
                  <a:pt x="4252134" y="0"/>
                  <a:pt x="4286250" y="34116"/>
                  <a:pt x="4286250" y="76200"/>
                </a:cubicBezTo>
                <a:lnTo>
                  <a:pt x="4286250" y="495300"/>
                </a:lnTo>
                <a:cubicBezTo>
                  <a:pt x="4286250" y="537384"/>
                  <a:pt x="4252134" y="571500"/>
                  <a:pt x="42100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838200" y="239077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76200" y="0"/>
                </a:moveTo>
                <a:lnTo>
                  <a:pt x="476250" y="0"/>
                </a:lnTo>
                <a:cubicBezTo>
                  <a:pt x="518334" y="0"/>
                  <a:pt x="552450" y="34116"/>
                  <a:pt x="552450" y="76200"/>
                </a:cubicBezTo>
                <a:lnTo>
                  <a:pt x="552450" y="495300"/>
                </a:lnTo>
                <a:cubicBezTo>
                  <a:pt x="552450" y="537384"/>
                  <a:pt x="518334" y="571500"/>
                  <a:pt x="4762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15656" y="2558415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1148" y="2458879"/>
            <a:ext cx="100612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随机加噪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22258" y="2491264"/>
            <a:ext cx="24531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采样噪声与时间步构造含噪变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22258" y="2719864"/>
            <a:ext cx="2185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量</a:t>
            </a:r>
          </a:p>
        </p:txBody>
      </p:sp>
      <p:sp>
        <p:nvSpPr>
          <p:cNvPr id="25" name="Line 25"/>
          <p:cNvSpPr/>
          <p:nvPr/>
        </p:nvSpPr>
        <p:spPr>
          <a:xfrm>
            <a:off x="1114425" y="296227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 cap="rnd">
            <a:solidFill>
              <a:srgbClr val="BCCBC4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838200" y="3209925"/>
            <a:ext cx="4286250" cy="571500"/>
          </a:xfrm>
          <a:custGeom>
            <a:avLst/>
            <a:gdLst/>
            <a:ahLst/>
            <a:cxnLst/>
            <a:rect l="l" t="t" r="r" b="b"/>
            <a:pathLst>
              <a:path w="4286250" h="571500">
                <a:moveTo>
                  <a:pt x="76200" y="0"/>
                </a:moveTo>
                <a:lnTo>
                  <a:pt x="4210050" y="0"/>
                </a:lnTo>
                <a:cubicBezTo>
                  <a:pt x="4252134" y="0"/>
                  <a:pt x="4286250" y="34116"/>
                  <a:pt x="4286250" y="76200"/>
                </a:cubicBezTo>
                <a:lnTo>
                  <a:pt x="4286250" y="495300"/>
                </a:lnTo>
                <a:cubicBezTo>
                  <a:pt x="4286250" y="537384"/>
                  <a:pt x="4252134" y="571500"/>
                  <a:pt x="42100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38200" y="320992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76200" y="0"/>
                </a:moveTo>
                <a:lnTo>
                  <a:pt x="476250" y="0"/>
                </a:lnTo>
                <a:cubicBezTo>
                  <a:pt x="518334" y="0"/>
                  <a:pt x="552450" y="34116"/>
                  <a:pt x="552450" y="76200"/>
                </a:cubicBezTo>
                <a:lnTo>
                  <a:pt x="552450" y="495300"/>
                </a:lnTo>
                <a:cubicBezTo>
                  <a:pt x="552450" y="537384"/>
                  <a:pt x="518334" y="571500"/>
                  <a:pt x="4762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15656" y="3377565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61148" y="3278029"/>
            <a:ext cx="100612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条件去噪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22258" y="3310414"/>
            <a:ext cx="25462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UNet 在文本条件引导下预测噪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22258" y="3539014"/>
            <a:ext cx="2185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声</a:t>
            </a:r>
          </a:p>
        </p:txBody>
      </p:sp>
      <p:sp>
        <p:nvSpPr>
          <p:cNvPr id="32" name="Line 32"/>
          <p:cNvSpPr/>
          <p:nvPr/>
        </p:nvSpPr>
        <p:spPr>
          <a:xfrm>
            <a:off x="1114425" y="378142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 cap="rnd">
            <a:solidFill>
              <a:srgbClr val="BCCBC4"/>
            </a:solidFill>
          </a:ln>
        </p:spPr>
      </p:sp>
      <p:sp>
        <p:nvSpPr>
          <p:cNvPr id="33" name="Freeform 33"/>
          <p:cNvSpPr/>
          <p:nvPr/>
        </p:nvSpPr>
        <p:spPr>
          <a:xfrm>
            <a:off x="838200" y="4029075"/>
            <a:ext cx="4286250" cy="571500"/>
          </a:xfrm>
          <a:custGeom>
            <a:avLst/>
            <a:gdLst/>
            <a:ahLst/>
            <a:cxnLst/>
            <a:rect l="l" t="t" r="r" b="b"/>
            <a:pathLst>
              <a:path w="4286250" h="571500">
                <a:moveTo>
                  <a:pt x="76200" y="0"/>
                </a:moveTo>
                <a:lnTo>
                  <a:pt x="4210050" y="0"/>
                </a:lnTo>
                <a:cubicBezTo>
                  <a:pt x="4252134" y="0"/>
                  <a:pt x="4286250" y="34116"/>
                  <a:pt x="4286250" y="76200"/>
                </a:cubicBezTo>
                <a:lnTo>
                  <a:pt x="4286250" y="495300"/>
                </a:lnTo>
                <a:cubicBezTo>
                  <a:pt x="4286250" y="537384"/>
                  <a:pt x="4252134" y="571500"/>
                  <a:pt x="42100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838200" y="402907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76200" y="0"/>
                </a:moveTo>
                <a:lnTo>
                  <a:pt x="476250" y="0"/>
                </a:lnTo>
                <a:cubicBezTo>
                  <a:pt x="518334" y="0"/>
                  <a:pt x="552450" y="34116"/>
                  <a:pt x="552450" y="76200"/>
                </a:cubicBezTo>
                <a:lnTo>
                  <a:pt x="552450" y="495300"/>
                </a:lnTo>
                <a:cubicBezTo>
                  <a:pt x="552450" y="537384"/>
                  <a:pt x="518334" y="571500"/>
                  <a:pt x="4762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5656" y="4196715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61148" y="4097179"/>
            <a:ext cx="100612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损失更新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22258" y="4129564"/>
            <a:ext cx="21179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MSE loss 更新 LoRA 参数</a:t>
            </a:r>
          </a:p>
        </p:txBody>
      </p:sp>
      <p:sp>
        <p:nvSpPr>
          <p:cNvPr id="38" name="Line 38"/>
          <p:cNvSpPr/>
          <p:nvPr/>
        </p:nvSpPr>
        <p:spPr>
          <a:xfrm>
            <a:off x="1114425" y="4600575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 cap="rnd">
            <a:solidFill>
              <a:srgbClr val="BCCBC4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838200" y="4848225"/>
            <a:ext cx="4286250" cy="571500"/>
          </a:xfrm>
          <a:custGeom>
            <a:avLst/>
            <a:gdLst/>
            <a:ahLst/>
            <a:cxnLst/>
            <a:rect l="l" t="t" r="r" b="b"/>
            <a:pathLst>
              <a:path w="4286250" h="571500">
                <a:moveTo>
                  <a:pt x="76200" y="0"/>
                </a:moveTo>
                <a:lnTo>
                  <a:pt x="4210050" y="0"/>
                </a:lnTo>
                <a:cubicBezTo>
                  <a:pt x="4252134" y="0"/>
                  <a:pt x="4286250" y="34116"/>
                  <a:pt x="4286250" y="76200"/>
                </a:cubicBezTo>
                <a:lnTo>
                  <a:pt x="4286250" y="495300"/>
                </a:lnTo>
                <a:cubicBezTo>
                  <a:pt x="4286250" y="537384"/>
                  <a:pt x="4252134" y="571500"/>
                  <a:pt x="42100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838200" y="4848225"/>
            <a:ext cx="552450" cy="571500"/>
          </a:xfrm>
          <a:custGeom>
            <a:avLst/>
            <a:gdLst/>
            <a:ahLst/>
            <a:cxnLst/>
            <a:rect l="l" t="t" r="r" b="b"/>
            <a:pathLst>
              <a:path w="552450" h="571500">
                <a:moveTo>
                  <a:pt x="76200" y="0"/>
                </a:moveTo>
                <a:lnTo>
                  <a:pt x="476250" y="0"/>
                </a:lnTo>
                <a:cubicBezTo>
                  <a:pt x="518334" y="0"/>
                  <a:pt x="552450" y="34116"/>
                  <a:pt x="552450" y="76200"/>
                </a:cubicBezTo>
                <a:lnTo>
                  <a:pt x="552450" y="495300"/>
                </a:lnTo>
                <a:cubicBezTo>
                  <a:pt x="552450" y="537384"/>
                  <a:pt x="518334" y="571500"/>
                  <a:pt x="47625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15656" y="5015865"/>
            <a:ext cx="197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61148" y="4916329"/>
            <a:ext cx="100612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权重保存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822258" y="4948714"/>
            <a:ext cx="250902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单独保存为 safetensor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22258" y="5177314"/>
            <a:ext cx="56309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s 文件</a:t>
            </a:r>
          </a:p>
        </p:txBody>
      </p:sp>
      <p:sp>
        <p:nvSpPr>
          <p:cNvPr id="45" name="Freeform 45"/>
          <p:cNvSpPr/>
          <p:nvPr/>
        </p:nvSpPr>
        <p:spPr>
          <a:xfrm>
            <a:off x="5962650" y="1562100"/>
            <a:ext cx="4895850" cy="3486150"/>
          </a:xfrm>
          <a:custGeom>
            <a:avLst/>
            <a:gdLst/>
            <a:ahLst/>
            <a:cxnLst/>
            <a:rect l="l" t="t" r="r" b="b"/>
            <a:pathLst>
              <a:path w="4895850" h="3486150">
                <a:moveTo>
                  <a:pt x="76200" y="0"/>
                </a:moveTo>
                <a:lnTo>
                  <a:pt x="4819650" y="0"/>
                </a:lnTo>
                <a:cubicBezTo>
                  <a:pt x="4861734" y="0"/>
                  <a:pt x="4895850" y="34116"/>
                  <a:pt x="4895850" y="76200"/>
                </a:cubicBezTo>
                <a:lnTo>
                  <a:pt x="4895850" y="3409950"/>
                </a:lnTo>
                <a:cubicBezTo>
                  <a:pt x="4895850" y="3452034"/>
                  <a:pt x="4861734" y="3486150"/>
                  <a:pt x="4819650" y="3486150"/>
                </a:cubicBezTo>
                <a:lnTo>
                  <a:pt x="76200" y="3486150"/>
                </a:lnTo>
                <a:cubicBezTo>
                  <a:pt x="34116" y="3486150"/>
                  <a:pt x="0" y="3452034"/>
                  <a:pt x="0" y="3409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315075" y="1852612"/>
            <a:ext cx="14373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训练结构</a:t>
            </a:r>
          </a:p>
        </p:txBody>
      </p:sp>
      <p:sp>
        <p:nvSpPr>
          <p:cNvPr id="47" name="Freeform 47"/>
          <p:cNvSpPr/>
          <p:nvPr/>
        </p:nvSpPr>
        <p:spPr>
          <a:xfrm>
            <a:off x="6515100" y="2571750"/>
            <a:ext cx="1524000" cy="685800"/>
          </a:xfrm>
          <a:custGeom>
            <a:avLst/>
            <a:gdLst/>
            <a:ahLst/>
            <a:cxnLst/>
            <a:rect l="l" t="t" r="r" b="b"/>
            <a:pathLst>
              <a:path w="1524000" h="6858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609600"/>
                </a:lnTo>
                <a:cubicBezTo>
                  <a:pt x="1524000" y="651684"/>
                  <a:pt x="1489884" y="685800"/>
                  <a:pt x="1447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7EEF5"/>
          </a:solidFill>
          <a:ln w="9525">
            <a:solidFill>
              <a:srgbClr val="D6DDD7"/>
            </a:solidFill>
          </a:ln>
        </p:spPr>
      </p:sp>
      <p:sp>
        <p:nvSpPr>
          <p:cNvPr id="48" name="Freeform 48"/>
          <p:cNvSpPr/>
          <p:nvPr/>
        </p:nvSpPr>
        <p:spPr>
          <a:xfrm>
            <a:off x="8743950" y="2571750"/>
            <a:ext cx="1524000" cy="685800"/>
          </a:xfrm>
          <a:custGeom>
            <a:avLst/>
            <a:gdLst/>
            <a:ahLst/>
            <a:cxnLst/>
            <a:rect l="l" t="t" r="r" b="b"/>
            <a:pathLst>
              <a:path w="1524000" h="6858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609600"/>
                </a:lnTo>
                <a:cubicBezTo>
                  <a:pt x="1524000" y="651684"/>
                  <a:pt x="1489884" y="685800"/>
                  <a:pt x="1447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49" name="Freeform 49"/>
          <p:cNvSpPr/>
          <p:nvPr/>
        </p:nvSpPr>
        <p:spPr>
          <a:xfrm>
            <a:off x="6515100" y="3848100"/>
            <a:ext cx="1524000" cy="685800"/>
          </a:xfrm>
          <a:custGeom>
            <a:avLst/>
            <a:gdLst/>
            <a:ahLst/>
            <a:cxnLst/>
            <a:rect l="l" t="t" r="r" b="b"/>
            <a:pathLst>
              <a:path w="1524000" h="6858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609600"/>
                </a:lnTo>
                <a:cubicBezTo>
                  <a:pt x="1524000" y="651684"/>
                  <a:pt x="1489884" y="685800"/>
                  <a:pt x="1447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EBD0"/>
          </a:solidFill>
          <a:ln w="9525">
            <a:solidFill>
              <a:srgbClr val="D6DDD7"/>
            </a:solidFill>
          </a:ln>
        </p:spPr>
      </p:sp>
      <p:sp>
        <p:nvSpPr>
          <p:cNvPr id="50" name="Freeform 50"/>
          <p:cNvSpPr/>
          <p:nvPr/>
        </p:nvSpPr>
        <p:spPr>
          <a:xfrm>
            <a:off x="8743950" y="3848100"/>
            <a:ext cx="1524000" cy="685800"/>
          </a:xfrm>
          <a:custGeom>
            <a:avLst/>
            <a:gdLst/>
            <a:ahLst/>
            <a:cxnLst/>
            <a:rect l="l" t="t" r="r" b="b"/>
            <a:pathLst>
              <a:path w="1524000" h="6858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609600"/>
                </a:lnTo>
                <a:cubicBezTo>
                  <a:pt x="1524000" y="651684"/>
                  <a:pt x="1489884" y="685800"/>
                  <a:pt x="1447800" y="685800"/>
                </a:cubicBezTo>
                <a:lnTo>
                  <a:pt x="76200" y="685800"/>
                </a:lnTo>
                <a:cubicBezTo>
                  <a:pt x="34116" y="685800"/>
                  <a:pt x="0" y="651684"/>
                  <a:pt x="0" y="609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EF3EE"/>
          </a:solidFill>
          <a:ln w="9525">
            <a:solidFill>
              <a:srgbClr val="D6DDD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026512" y="2796540"/>
            <a:ext cx="501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497D"/>
                </a:solidFill>
                <a:latin typeface="Arial"/>
                <a:ea typeface="Microsoft YaHei"/>
                <a:cs typeface="Arial"/>
              </a:rPr>
              <a:t>VAE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681620" y="2812732"/>
            <a:ext cx="164866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Text Encoder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53982" y="4089082"/>
            <a:ext cx="14462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C9A14B"/>
                </a:solidFill>
                <a:latin typeface="Arial"/>
                <a:ea typeface="Microsoft YaHei"/>
                <a:cs typeface="Arial"/>
              </a:rPr>
              <a:t>UNet + LoRA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34651" y="4089082"/>
            <a:ext cx="1142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MSE Loss</a:t>
            </a:r>
          </a:p>
        </p:txBody>
      </p:sp>
      <p:sp>
        <p:nvSpPr>
          <p:cNvPr id="55" name="Line 55"/>
          <p:cNvSpPr/>
          <p:nvPr/>
        </p:nvSpPr>
        <p:spPr>
          <a:xfrm>
            <a:off x="8058150" y="291465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28575" cap="rnd">
            <a:solidFill>
              <a:srgbClr val="BCCBC4"/>
            </a:solidFill>
          </a:ln>
        </p:spPr>
      </p:sp>
      <p:sp>
        <p:nvSpPr>
          <p:cNvPr id="56" name="Polygon 56"/>
          <p:cNvSpPr/>
          <p:nvPr/>
        </p:nvSpPr>
        <p:spPr>
          <a:xfrm>
            <a:off x="8582025" y="287655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BCCBC4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7296150" y="32766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8575" cap="rnd">
            <a:solidFill>
              <a:srgbClr val="BCCBC4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7210425" y="373380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BCCBC4"/>
          </a:solidFill>
          <a:ln>
            <a:noFill/>
          </a:ln>
        </p:spPr>
      </p:sp>
      <p:sp>
        <p:nvSpPr>
          <p:cNvPr id="59" name="Line 59"/>
          <p:cNvSpPr/>
          <p:nvPr/>
        </p:nvSpPr>
        <p:spPr>
          <a:xfrm>
            <a:off x="8058150" y="41910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28575" cap="rnd">
            <a:solidFill>
              <a:srgbClr val="BCCBC4"/>
            </a:solidFill>
          </a:ln>
        </p:spPr>
      </p:sp>
      <p:sp>
        <p:nvSpPr>
          <p:cNvPr id="60" name="Polygon 60"/>
          <p:cNvSpPr/>
          <p:nvPr/>
        </p:nvSpPr>
        <p:spPr>
          <a:xfrm>
            <a:off x="8582025" y="4152900"/>
            <a:ext cx="85725" cy="76200"/>
          </a:xfrm>
          <a:custGeom>
            <a:avLst/>
            <a:gdLst/>
            <a:ahLst/>
            <a:cxnLst/>
            <a:rect l="l" t="t" r="r" b="b"/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BCCBC4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096952" y="5408771"/>
            <a:ext cx="54057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推理时只需挂载训练后的 LoRA 权重，即可在基础模型上生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96952" y="5665946"/>
            <a:ext cx="21174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成目标水墨风格图像。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对比实验设计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10/15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3578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三类实验共同回答容量、训练充分性与参数更新幅度的问题。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85800" y="1619250"/>
            <a:ext cx="3238500" cy="2400300"/>
          </a:xfrm>
          <a:custGeom>
            <a:avLst/>
            <a:gdLst/>
            <a:ahLst/>
            <a:cxnLst/>
            <a:rect l="l" t="t" r="r" b="b"/>
            <a:pathLst>
              <a:path w="3238500" h="24003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324100"/>
                </a:lnTo>
                <a:cubicBezTo>
                  <a:pt x="3238500" y="2366184"/>
                  <a:pt x="3204384" y="2400300"/>
                  <a:pt x="3162300" y="2400300"/>
                </a:cubicBezTo>
                <a:lnTo>
                  <a:pt x="76200" y="2400300"/>
                </a:lnTo>
                <a:cubicBezTo>
                  <a:pt x="34116" y="2400300"/>
                  <a:pt x="0" y="2366184"/>
                  <a:pt x="0" y="2324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06780" y="1887855"/>
            <a:ext cx="15025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Rank 对比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258127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分析低秩矩阵表达能力对训练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285750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和生成效果的影响</a:t>
            </a:r>
          </a:p>
        </p:txBody>
      </p:sp>
      <p:sp>
        <p:nvSpPr>
          <p:cNvPr id="16" name="Freeform 16"/>
          <p:cNvSpPr/>
          <p:nvPr/>
        </p:nvSpPr>
        <p:spPr>
          <a:xfrm>
            <a:off x="933450" y="3429000"/>
            <a:ext cx="2095500" cy="400050"/>
          </a:xfrm>
          <a:custGeom>
            <a:avLst/>
            <a:gdLst/>
            <a:ahLst/>
            <a:cxnLst/>
            <a:rect l="l" t="t" r="r" b="b"/>
            <a:pathLst>
              <a:path w="2095500" h="40005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23850"/>
                </a:lnTo>
                <a:cubicBezTo>
                  <a:pt x="2095500" y="365934"/>
                  <a:pt x="2061384" y="400050"/>
                  <a:pt x="2019300" y="400050"/>
                </a:cubicBezTo>
                <a:lnTo>
                  <a:pt x="76200" y="400050"/>
                </a:lnTo>
                <a:cubicBezTo>
                  <a:pt x="34116" y="400050"/>
                  <a:pt x="0" y="365934"/>
                  <a:pt x="0" y="323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7EEF5"/>
          </a:solidFill>
          <a:ln w="9525">
            <a:solidFill>
              <a:srgbClr val="D6DDD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262051" y="3548539"/>
            <a:ext cx="143829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Rank=8 / 16 / 32</a:t>
            </a:r>
          </a:p>
        </p:txBody>
      </p:sp>
      <p:sp>
        <p:nvSpPr>
          <p:cNvPr id="18" name="Freeform 18"/>
          <p:cNvSpPr/>
          <p:nvPr/>
        </p:nvSpPr>
        <p:spPr>
          <a:xfrm>
            <a:off x="4400550" y="1619250"/>
            <a:ext cx="3238500" cy="2400300"/>
          </a:xfrm>
          <a:custGeom>
            <a:avLst/>
            <a:gdLst/>
            <a:ahLst/>
            <a:cxnLst/>
            <a:rect l="l" t="t" r="r" b="b"/>
            <a:pathLst>
              <a:path w="3238500" h="24003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324100"/>
                </a:lnTo>
                <a:cubicBezTo>
                  <a:pt x="3238500" y="2366184"/>
                  <a:pt x="3204384" y="2400300"/>
                  <a:pt x="3162300" y="2400300"/>
                </a:cubicBezTo>
                <a:lnTo>
                  <a:pt x="76200" y="2400300"/>
                </a:lnTo>
                <a:cubicBezTo>
                  <a:pt x="34116" y="2400300"/>
                  <a:pt x="0" y="2366184"/>
                  <a:pt x="0" y="2324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621530" y="18878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F7D6B"/>
                </a:solidFill>
                <a:latin typeface="Arial"/>
                <a:ea typeface="SimHei"/>
                <a:cs typeface="Arial"/>
              </a:rPr>
              <a:t>训练步数对比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29150" y="258127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观察训练是否充分，以及步数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29150" y="2857500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增加是否带来更好效果</a:t>
            </a:r>
          </a:p>
        </p:txBody>
      </p:sp>
      <p:sp>
        <p:nvSpPr>
          <p:cNvPr id="22" name="Freeform 22"/>
          <p:cNvSpPr/>
          <p:nvPr/>
        </p:nvSpPr>
        <p:spPr>
          <a:xfrm>
            <a:off x="4648200" y="3429000"/>
            <a:ext cx="2095500" cy="400050"/>
          </a:xfrm>
          <a:custGeom>
            <a:avLst/>
            <a:gdLst/>
            <a:ahLst/>
            <a:cxnLst/>
            <a:rect l="l" t="t" r="r" b="b"/>
            <a:pathLst>
              <a:path w="2095500" h="40005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23850"/>
                </a:lnTo>
                <a:cubicBezTo>
                  <a:pt x="2095500" y="365934"/>
                  <a:pt x="2061384" y="400050"/>
                  <a:pt x="2019300" y="400050"/>
                </a:cubicBezTo>
                <a:lnTo>
                  <a:pt x="76200" y="400050"/>
                </a:lnTo>
                <a:cubicBezTo>
                  <a:pt x="34116" y="400050"/>
                  <a:pt x="0" y="365934"/>
                  <a:pt x="0" y="323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948869" y="3548539"/>
            <a:ext cx="149416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600 / 1200 / 1800</a:t>
            </a:r>
          </a:p>
        </p:txBody>
      </p:sp>
      <p:sp>
        <p:nvSpPr>
          <p:cNvPr id="24" name="Freeform 24"/>
          <p:cNvSpPr/>
          <p:nvPr/>
        </p:nvSpPr>
        <p:spPr>
          <a:xfrm>
            <a:off x="8115300" y="1619250"/>
            <a:ext cx="3238500" cy="2400300"/>
          </a:xfrm>
          <a:custGeom>
            <a:avLst/>
            <a:gdLst/>
            <a:ahLst/>
            <a:cxnLst/>
            <a:rect l="l" t="t" r="r" b="b"/>
            <a:pathLst>
              <a:path w="3238500" h="24003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324100"/>
                </a:lnTo>
                <a:cubicBezTo>
                  <a:pt x="3238500" y="2366184"/>
                  <a:pt x="3204384" y="2400300"/>
                  <a:pt x="3162300" y="2400300"/>
                </a:cubicBezTo>
                <a:lnTo>
                  <a:pt x="76200" y="2400300"/>
                </a:lnTo>
                <a:cubicBezTo>
                  <a:pt x="34116" y="2400300"/>
                  <a:pt x="0" y="2366184"/>
                  <a:pt x="0" y="2324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36280" y="18878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9A14B"/>
                </a:solidFill>
                <a:latin typeface="Arial"/>
                <a:ea typeface="SimHei"/>
                <a:cs typeface="Arial"/>
              </a:rPr>
              <a:t>学习率对比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43900" y="258127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分析更新幅度对模型收敛和生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43900" y="285750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成结果的影响</a:t>
            </a:r>
          </a:p>
        </p:txBody>
      </p:sp>
      <p:sp>
        <p:nvSpPr>
          <p:cNvPr id="28" name="Freeform 28"/>
          <p:cNvSpPr/>
          <p:nvPr/>
        </p:nvSpPr>
        <p:spPr>
          <a:xfrm>
            <a:off x="8362950" y="3429000"/>
            <a:ext cx="2095500" cy="400050"/>
          </a:xfrm>
          <a:custGeom>
            <a:avLst/>
            <a:gdLst/>
            <a:ahLst/>
            <a:cxnLst/>
            <a:rect l="l" t="t" r="r" b="b"/>
            <a:pathLst>
              <a:path w="2095500" h="40005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323850"/>
                </a:lnTo>
                <a:cubicBezTo>
                  <a:pt x="2095500" y="365934"/>
                  <a:pt x="2061384" y="400050"/>
                  <a:pt x="2019300" y="400050"/>
                </a:cubicBezTo>
                <a:lnTo>
                  <a:pt x="76200" y="400050"/>
                </a:lnTo>
                <a:cubicBezTo>
                  <a:pt x="34116" y="400050"/>
                  <a:pt x="0" y="365934"/>
                  <a:pt x="0" y="3238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7EEF5"/>
          </a:solidFill>
          <a:ln w="9525">
            <a:solidFill>
              <a:srgbClr val="D6DDD7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89133" y="3548539"/>
            <a:ext cx="16431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1e-4 / 2e-4 / 5e-4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00150" y="4648200"/>
            <a:ext cx="9791700" cy="914400"/>
          </a:xfrm>
          <a:custGeom>
            <a:avLst/>
            <a:gdLst/>
            <a:ahLst/>
            <a:cxnLst/>
            <a:rect l="l" t="t" r="r" b="b"/>
            <a:pathLst>
              <a:path w="9791700" h="914400">
                <a:moveTo>
                  <a:pt x="76200" y="0"/>
                </a:moveTo>
                <a:lnTo>
                  <a:pt x="9715500" y="0"/>
                </a:lnTo>
                <a:cubicBezTo>
                  <a:pt x="9757584" y="0"/>
                  <a:pt x="9791700" y="34116"/>
                  <a:pt x="9791700" y="76200"/>
                </a:cubicBezTo>
                <a:lnTo>
                  <a:pt x="9791700" y="838200"/>
                </a:lnTo>
                <a:cubicBezTo>
                  <a:pt x="9791700" y="880284"/>
                  <a:pt x="9757584" y="914400"/>
                  <a:pt x="97155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EF3EE"/>
          </a:solidFill>
          <a:ln w="9525">
            <a:solidFill>
              <a:srgbClr val="D6DDD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558290" y="48539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7D6B"/>
                </a:solidFill>
                <a:latin typeface="Arial"/>
                <a:ea typeface="SimHei"/>
                <a:cs typeface="Arial"/>
              </a:rPr>
              <a:t>评价方式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47048" y="4878229"/>
            <a:ext cx="727440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训练 loss 曲线 | 生成图像可视化对比 | 基础模型与 LoRA 模型对比 | FID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47048" y="5163979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指标分析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241106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训练过程分析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11/15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663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原始 loss 有波动和尖峰，但移动平均整体稳定，没有持续发散。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66750" y="1381125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1638300"/>
                </a:lnTo>
                <a:cubicBezTo>
                  <a:pt x="3143250" y="1680384"/>
                  <a:pt x="3109134" y="1714500"/>
                  <a:pt x="306705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1533525"/>
            <a:ext cx="2275522" cy="13144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34312" y="286797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Rank=8 / 1200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381125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1638300"/>
                </a:lnTo>
                <a:cubicBezTo>
                  <a:pt x="3143250" y="1680384"/>
                  <a:pt x="3109134" y="1714500"/>
                  <a:pt x="306705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262" y="1533525"/>
            <a:ext cx="2275522" cy="13144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401437" y="286797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Rank=16 / 600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0" y="1381125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1638300"/>
                </a:lnTo>
                <a:cubicBezTo>
                  <a:pt x="3143250" y="1680384"/>
                  <a:pt x="3109134" y="1714500"/>
                  <a:pt x="306705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388" y="1533525"/>
            <a:ext cx="2275522" cy="131445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045559" y="2867978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Rank=16 / 1200</a:t>
            </a:r>
          </a:p>
        </p:txBody>
      </p:sp>
      <p:sp>
        <p:nvSpPr>
          <p:cNvPr id="21" name="Freeform 21"/>
          <p:cNvSpPr/>
          <p:nvPr/>
        </p:nvSpPr>
        <p:spPr>
          <a:xfrm>
            <a:off x="2476500" y="3676650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1638300"/>
                </a:lnTo>
                <a:cubicBezTo>
                  <a:pt x="3143250" y="1680384"/>
                  <a:pt x="3109134" y="1714500"/>
                  <a:pt x="306705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840" y="3829050"/>
            <a:ext cx="2274570" cy="13144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521059" y="5163502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Rank=16 / 1800</a:t>
            </a:r>
          </a:p>
        </p:txBody>
      </p:sp>
      <p:sp>
        <p:nvSpPr>
          <p:cNvPr id="24" name="Freeform 24"/>
          <p:cNvSpPr/>
          <p:nvPr/>
        </p:nvSpPr>
        <p:spPr>
          <a:xfrm>
            <a:off x="6191250" y="3676650"/>
            <a:ext cx="3143250" cy="1714500"/>
          </a:xfrm>
          <a:custGeom>
            <a:avLst/>
            <a:gdLst/>
            <a:ahLst/>
            <a:cxnLst/>
            <a:rect l="l" t="t" r="r" b="b"/>
            <a:pathLst>
              <a:path w="3143250" h="1714500">
                <a:moveTo>
                  <a:pt x="76200" y="0"/>
                </a:moveTo>
                <a:lnTo>
                  <a:pt x="3067050" y="0"/>
                </a:lnTo>
                <a:cubicBezTo>
                  <a:pt x="3109134" y="0"/>
                  <a:pt x="3143250" y="34116"/>
                  <a:pt x="3143250" y="76200"/>
                </a:cubicBezTo>
                <a:lnTo>
                  <a:pt x="3143250" y="1638300"/>
                </a:lnTo>
                <a:cubicBezTo>
                  <a:pt x="3143250" y="1680384"/>
                  <a:pt x="3109134" y="1714500"/>
                  <a:pt x="306705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638" y="3829050"/>
            <a:ext cx="2275522" cy="13144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7216640" y="516350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Rank=32 / 1200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" y="5695950"/>
            <a:ext cx="10382250" cy="438150"/>
          </a:xfrm>
          <a:custGeom>
            <a:avLst/>
            <a:gdLst/>
            <a:ahLst/>
            <a:cxnLst/>
            <a:rect l="l" t="t" r="r" b="b"/>
            <a:pathLst>
              <a:path w="10382250" h="438150">
                <a:moveTo>
                  <a:pt x="76200" y="0"/>
                </a:moveTo>
                <a:lnTo>
                  <a:pt x="10306050" y="0"/>
                </a:lnTo>
                <a:cubicBezTo>
                  <a:pt x="10348134" y="0"/>
                  <a:pt x="10382250" y="34116"/>
                  <a:pt x="10382250" y="76200"/>
                </a:cubicBezTo>
                <a:lnTo>
                  <a:pt x="10382250" y="361950"/>
                </a:lnTo>
                <a:cubicBezTo>
                  <a:pt x="10382250" y="404034"/>
                  <a:pt x="10348134" y="438150"/>
                  <a:pt x="1030605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EBD0"/>
          </a:solidFill>
          <a:ln w="9525">
            <a:solidFill>
              <a:srgbClr val="D6DDD7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251656" y="5816918"/>
            <a:ext cx="92124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扩散训练每步都会随机抽样、随机噪声和随机时间步，因此单步 loss 波动正常；趋势稳定才是判断重点。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35842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超参数实验结果分析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12/15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949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微调效果由 Rank、训练步数、学习率和生成随机性共同作用。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723900" y="1428750"/>
            <a:ext cx="5029200" cy="819150"/>
          </a:xfrm>
          <a:custGeom>
            <a:avLst/>
            <a:gdLst/>
            <a:ahLst/>
            <a:cxnLst/>
            <a:rect l="l" t="t" r="r" b="b"/>
            <a:pathLst>
              <a:path w="5029200" h="819150">
                <a:moveTo>
                  <a:pt x="76200" y="0"/>
                </a:moveTo>
                <a:lnTo>
                  <a:pt x="4953000" y="0"/>
                </a:lnTo>
                <a:cubicBezTo>
                  <a:pt x="4995084" y="0"/>
                  <a:pt x="5029200" y="34116"/>
                  <a:pt x="5029200" y="76200"/>
                </a:cubicBezTo>
                <a:lnTo>
                  <a:pt x="5029200" y="742950"/>
                </a:lnTo>
                <a:cubicBezTo>
                  <a:pt x="5029200" y="785034"/>
                  <a:pt x="4995084" y="819150"/>
                  <a:pt x="495300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23900" y="1428750"/>
            <a:ext cx="1028700" cy="819150"/>
          </a:xfrm>
          <a:custGeom>
            <a:avLst/>
            <a:gdLst/>
            <a:ahLst/>
            <a:cxnLst/>
            <a:rect l="l" t="t" r="r" b="b"/>
            <a:pathLst>
              <a:path w="1028700" h="819150">
                <a:moveTo>
                  <a:pt x="76200" y="0"/>
                </a:moveTo>
                <a:lnTo>
                  <a:pt x="952500" y="0"/>
                </a:lnTo>
                <a:cubicBezTo>
                  <a:pt x="994584" y="0"/>
                  <a:pt x="1028700" y="34116"/>
                  <a:pt x="1028700" y="76200"/>
                </a:cubicBezTo>
                <a:lnTo>
                  <a:pt x="1028700" y="742950"/>
                </a:lnTo>
                <a:cubicBezTo>
                  <a:pt x="1028700" y="785034"/>
                  <a:pt x="994584" y="819150"/>
                  <a:pt x="95250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497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1752" y="1729740"/>
            <a:ext cx="652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Rank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80248" y="1563529"/>
            <a:ext cx="272099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8 / 16 / 32 均能有效训练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5010" y="1889760"/>
            <a:ext cx="36671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 增大并未直接带来更稳定的 loss，需结合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5010" y="210883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生成效果与 FID 判断。</a:t>
            </a:r>
          </a:p>
        </p:txBody>
      </p:sp>
      <p:sp>
        <p:nvSpPr>
          <p:cNvPr id="18" name="Freeform 18"/>
          <p:cNvSpPr/>
          <p:nvPr/>
        </p:nvSpPr>
        <p:spPr>
          <a:xfrm>
            <a:off x="723900" y="2533650"/>
            <a:ext cx="5029200" cy="819150"/>
          </a:xfrm>
          <a:custGeom>
            <a:avLst/>
            <a:gdLst/>
            <a:ahLst/>
            <a:cxnLst/>
            <a:rect l="l" t="t" r="r" b="b"/>
            <a:pathLst>
              <a:path w="5029200" h="819150">
                <a:moveTo>
                  <a:pt x="76200" y="0"/>
                </a:moveTo>
                <a:lnTo>
                  <a:pt x="4953000" y="0"/>
                </a:lnTo>
                <a:cubicBezTo>
                  <a:pt x="4995084" y="0"/>
                  <a:pt x="5029200" y="34116"/>
                  <a:pt x="5029200" y="76200"/>
                </a:cubicBezTo>
                <a:lnTo>
                  <a:pt x="5029200" y="742950"/>
                </a:lnTo>
                <a:cubicBezTo>
                  <a:pt x="5029200" y="785034"/>
                  <a:pt x="4995084" y="819150"/>
                  <a:pt x="495300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723900" y="2533650"/>
            <a:ext cx="1028700" cy="819150"/>
          </a:xfrm>
          <a:custGeom>
            <a:avLst/>
            <a:gdLst/>
            <a:ahLst/>
            <a:cxnLst/>
            <a:rect l="l" t="t" r="r" b="b"/>
            <a:pathLst>
              <a:path w="1028700" h="819150">
                <a:moveTo>
                  <a:pt x="76200" y="0"/>
                </a:moveTo>
                <a:lnTo>
                  <a:pt x="952500" y="0"/>
                </a:lnTo>
                <a:cubicBezTo>
                  <a:pt x="994584" y="0"/>
                  <a:pt x="1028700" y="34116"/>
                  <a:pt x="1028700" y="76200"/>
                </a:cubicBezTo>
                <a:lnTo>
                  <a:pt x="1028700" y="742950"/>
                </a:lnTo>
                <a:cubicBezTo>
                  <a:pt x="1028700" y="785034"/>
                  <a:pt x="994584" y="819150"/>
                  <a:pt x="95250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01338" y="28346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训练步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7373" y="3158490"/>
            <a:ext cx="3217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80248" y="2668429"/>
            <a:ext cx="345765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600 / 1200 / 1800 均能完成训练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85010" y="29946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增加步数提供更多优化机会，但不必然提升生成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85010" y="3213735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质量。</a:t>
            </a:r>
          </a:p>
        </p:txBody>
      </p:sp>
      <p:sp>
        <p:nvSpPr>
          <p:cNvPr id="25" name="Freeform 25"/>
          <p:cNvSpPr/>
          <p:nvPr/>
        </p:nvSpPr>
        <p:spPr>
          <a:xfrm>
            <a:off x="723900" y="3638550"/>
            <a:ext cx="5029200" cy="819150"/>
          </a:xfrm>
          <a:custGeom>
            <a:avLst/>
            <a:gdLst/>
            <a:ahLst/>
            <a:cxnLst/>
            <a:rect l="l" t="t" r="r" b="b"/>
            <a:pathLst>
              <a:path w="5029200" h="819150">
                <a:moveTo>
                  <a:pt x="76200" y="0"/>
                </a:moveTo>
                <a:lnTo>
                  <a:pt x="4953000" y="0"/>
                </a:lnTo>
                <a:cubicBezTo>
                  <a:pt x="4995084" y="0"/>
                  <a:pt x="5029200" y="34116"/>
                  <a:pt x="5029200" y="76200"/>
                </a:cubicBezTo>
                <a:lnTo>
                  <a:pt x="5029200" y="742950"/>
                </a:lnTo>
                <a:cubicBezTo>
                  <a:pt x="5029200" y="785034"/>
                  <a:pt x="4995084" y="819150"/>
                  <a:pt x="495300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723900" y="3638550"/>
            <a:ext cx="1028700" cy="819150"/>
          </a:xfrm>
          <a:custGeom>
            <a:avLst/>
            <a:gdLst/>
            <a:ahLst/>
            <a:cxnLst/>
            <a:rect l="l" t="t" r="r" b="b"/>
            <a:pathLst>
              <a:path w="1028700" h="819150">
                <a:moveTo>
                  <a:pt x="76200" y="0"/>
                </a:moveTo>
                <a:lnTo>
                  <a:pt x="952500" y="0"/>
                </a:lnTo>
                <a:cubicBezTo>
                  <a:pt x="994584" y="0"/>
                  <a:pt x="1028700" y="34116"/>
                  <a:pt x="1028700" y="76200"/>
                </a:cubicBezTo>
                <a:lnTo>
                  <a:pt x="1028700" y="742950"/>
                </a:lnTo>
                <a:cubicBezTo>
                  <a:pt x="1028700" y="785034"/>
                  <a:pt x="994584" y="819150"/>
                  <a:pt x="952500" y="819150"/>
                </a:cubicBezTo>
                <a:lnTo>
                  <a:pt x="76200" y="819150"/>
                </a:lnTo>
                <a:cubicBezTo>
                  <a:pt x="34116" y="819150"/>
                  <a:pt x="0" y="785034"/>
                  <a:pt x="0" y="742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9A14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01338" y="39395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80248" y="3773329"/>
            <a:ext cx="340935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1e-4 / 2e-4 / 5e-4 均正常训练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85010" y="4099560"/>
            <a:ext cx="34392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训练 loss 差异较小；2e-4 是 full-dataset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85010" y="431863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主实验默认配置，整体表现均衡。</a:t>
            </a:r>
          </a:p>
        </p:txBody>
      </p:sp>
      <p:sp>
        <p:nvSpPr>
          <p:cNvPr id="31" name="Freeform 31"/>
          <p:cNvSpPr/>
          <p:nvPr/>
        </p:nvSpPr>
        <p:spPr>
          <a:xfrm>
            <a:off x="6286500" y="1409700"/>
            <a:ext cx="4495800" cy="2609850"/>
          </a:xfrm>
          <a:custGeom>
            <a:avLst/>
            <a:gdLst/>
            <a:ahLst/>
            <a:cxnLst/>
            <a:rect l="l" t="t" r="r" b="b"/>
            <a:pathLst>
              <a:path w="4495800" h="2609850">
                <a:moveTo>
                  <a:pt x="76200" y="0"/>
                </a:moveTo>
                <a:lnTo>
                  <a:pt x="4419600" y="0"/>
                </a:lnTo>
                <a:cubicBezTo>
                  <a:pt x="4461684" y="0"/>
                  <a:pt x="4495800" y="34116"/>
                  <a:pt x="4495800" y="76200"/>
                </a:cubicBezTo>
                <a:lnTo>
                  <a:pt x="4495800" y="2533650"/>
                </a:lnTo>
                <a:cubicBezTo>
                  <a:pt x="4495800" y="2575734"/>
                  <a:pt x="4461684" y="2609850"/>
                  <a:pt x="4419600" y="2609850"/>
                </a:cubicBezTo>
                <a:lnTo>
                  <a:pt x="76200" y="2609850"/>
                </a:lnTo>
                <a:cubicBezTo>
                  <a:pt x="34116" y="2609850"/>
                  <a:pt x="0" y="2575734"/>
                  <a:pt x="0" y="2533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32" name="Imag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57350"/>
            <a:ext cx="3535680" cy="188595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7788807" y="36776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学习率消融 loss 曲线</a:t>
            </a:r>
          </a:p>
        </p:txBody>
      </p:sp>
      <p:sp>
        <p:nvSpPr>
          <p:cNvPr id="34" name="Freeform 34"/>
          <p:cNvSpPr/>
          <p:nvPr/>
        </p:nvSpPr>
        <p:spPr>
          <a:xfrm>
            <a:off x="6286500" y="4324350"/>
            <a:ext cx="4495800" cy="895350"/>
          </a:xfrm>
          <a:custGeom>
            <a:avLst/>
            <a:gdLst/>
            <a:ahLst/>
            <a:cxnLst/>
            <a:rect l="l" t="t" r="r" b="b"/>
            <a:pathLst>
              <a:path w="4495800" h="895350">
                <a:moveTo>
                  <a:pt x="76200" y="0"/>
                </a:moveTo>
                <a:lnTo>
                  <a:pt x="4419600" y="0"/>
                </a:lnTo>
                <a:cubicBezTo>
                  <a:pt x="4461684" y="0"/>
                  <a:pt x="4495800" y="34116"/>
                  <a:pt x="4495800" y="76200"/>
                </a:cubicBezTo>
                <a:lnTo>
                  <a:pt x="4495800" y="819150"/>
                </a:lnTo>
                <a:cubicBezTo>
                  <a:pt x="4495800" y="861234"/>
                  <a:pt x="4461684" y="895350"/>
                  <a:pt x="4419600" y="895350"/>
                </a:cubicBezTo>
                <a:lnTo>
                  <a:pt x="76200" y="895350"/>
                </a:lnTo>
                <a:cubicBezTo>
                  <a:pt x="34116" y="895350"/>
                  <a:pt x="0" y="861234"/>
                  <a:pt x="0" y="819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59471" y="44919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48412" y="4864418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不存在单一参数决定效果的情况，需要用曲线、样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30001" y="5112068"/>
            <a:ext cx="1808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例与 FID 综合判断。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585229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未微调模型与 LoRA 微调模型对比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13/15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55549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相同提示词、相同种子和相同推理参数下，对比风格适配差异。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" y="1333500"/>
            <a:ext cx="6191250" cy="4648200"/>
          </a:xfrm>
          <a:custGeom>
            <a:avLst/>
            <a:gdLst/>
            <a:ahLst/>
            <a:cxnLst/>
            <a:rect l="l" t="t" r="r" b="b"/>
            <a:pathLst>
              <a:path w="6191250" h="4648200">
                <a:moveTo>
                  <a:pt x="76200" y="0"/>
                </a:moveTo>
                <a:lnTo>
                  <a:pt x="6115050" y="0"/>
                </a:lnTo>
                <a:cubicBezTo>
                  <a:pt x="6157134" y="0"/>
                  <a:pt x="6191250" y="34116"/>
                  <a:pt x="6191250" y="76200"/>
                </a:cubicBezTo>
                <a:lnTo>
                  <a:pt x="6191250" y="4572000"/>
                </a:lnTo>
                <a:cubicBezTo>
                  <a:pt x="6191250" y="4614084"/>
                  <a:pt x="6157134" y="4648200"/>
                  <a:pt x="6115050" y="4648200"/>
                </a:cubicBezTo>
                <a:lnTo>
                  <a:pt x="76200" y="4648200"/>
                </a:lnTo>
                <a:cubicBezTo>
                  <a:pt x="34116" y="4648200"/>
                  <a:pt x="0" y="4614084"/>
                  <a:pt x="0" y="4572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92" y="1562100"/>
            <a:ext cx="5207318" cy="39052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214801" y="5631656"/>
            <a:ext cx="30189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基础模型 vs LoRA 微调模型生成效果对比</a:t>
            </a:r>
          </a:p>
        </p:txBody>
      </p:sp>
      <p:sp>
        <p:nvSpPr>
          <p:cNvPr id="15" name="Freeform 15"/>
          <p:cNvSpPr/>
          <p:nvPr/>
        </p:nvSpPr>
        <p:spPr>
          <a:xfrm>
            <a:off x="7181850" y="1485900"/>
            <a:ext cx="3714750" cy="1428750"/>
          </a:xfrm>
          <a:custGeom>
            <a:avLst/>
            <a:gdLst/>
            <a:ahLst/>
            <a:cxnLst/>
            <a:rect l="l" t="t" r="r" b="b"/>
            <a:pathLst>
              <a:path w="3714750" h="1428750">
                <a:moveTo>
                  <a:pt x="76200" y="0"/>
                </a:moveTo>
                <a:lnTo>
                  <a:pt x="3638550" y="0"/>
                </a:lnTo>
                <a:cubicBezTo>
                  <a:pt x="3680634" y="0"/>
                  <a:pt x="3714750" y="34116"/>
                  <a:pt x="3714750" y="76200"/>
                </a:cubicBezTo>
                <a:lnTo>
                  <a:pt x="3714750" y="1352550"/>
                </a:lnTo>
                <a:cubicBezTo>
                  <a:pt x="3714750" y="1394634"/>
                  <a:pt x="3680634" y="1428750"/>
                  <a:pt x="363855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63790" y="17297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未微调基础模型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8552" y="2189321"/>
            <a:ext cx="33661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能生成山水、人物、花鸟等主体，但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8552" y="2446496"/>
            <a:ext cx="33661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整体更接近通用数字插画或普通古风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8552" y="2703671"/>
            <a:ext cx="6605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图像。</a:t>
            </a:r>
          </a:p>
        </p:txBody>
      </p:sp>
      <p:sp>
        <p:nvSpPr>
          <p:cNvPr id="20" name="Freeform 20"/>
          <p:cNvSpPr/>
          <p:nvPr/>
        </p:nvSpPr>
        <p:spPr>
          <a:xfrm>
            <a:off x="7181850" y="3257550"/>
            <a:ext cx="3714750" cy="1581150"/>
          </a:xfrm>
          <a:custGeom>
            <a:avLst/>
            <a:gdLst/>
            <a:ahLst/>
            <a:cxnLst/>
            <a:rect l="l" t="t" r="r" b="b"/>
            <a:pathLst>
              <a:path w="3714750" h="1581150">
                <a:moveTo>
                  <a:pt x="76200" y="0"/>
                </a:moveTo>
                <a:lnTo>
                  <a:pt x="3638550" y="0"/>
                </a:lnTo>
                <a:cubicBezTo>
                  <a:pt x="3680634" y="0"/>
                  <a:pt x="3714750" y="34116"/>
                  <a:pt x="3714750" y="76200"/>
                </a:cubicBezTo>
                <a:lnTo>
                  <a:pt x="3714750" y="1504950"/>
                </a:lnTo>
                <a:cubicBezTo>
                  <a:pt x="3714750" y="1547034"/>
                  <a:pt x="3680634" y="1581150"/>
                  <a:pt x="3638550" y="1581150"/>
                </a:cubicBezTo>
                <a:lnTo>
                  <a:pt x="76200" y="1581150"/>
                </a:lnTo>
                <a:cubicBezTo>
                  <a:pt x="34116" y="1581150"/>
                  <a:pt x="0" y="1547034"/>
                  <a:pt x="0" y="150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463790" y="3501390"/>
            <a:ext cx="18399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7D6B"/>
                </a:solidFill>
                <a:latin typeface="Arial"/>
                <a:ea typeface="SimHei"/>
                <a:cs typeface="Arial"/>
              </a:rPr>
              <a:t>LoRA 微调模型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68552" y="3960971"/>
            <a:ext cx="33661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墨色层次、宣纸质感、远山云雾和留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68552" y="4218146"/>
            <a:ext cx="294989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白关系更接近传统水墨画风格。</a:t>
            </a:r>
          </a:p>
        </p:txBody>
      </p:sp>
      <p:sp>
        <p:nvSpPr>
          <p:cNvPr id="24" name="Freeform 24"/>
          <p:cNvSpPr/>
          <p:nvPr/>
        </p:nvSpPr>
        <p:spPr>
          <a:xfrm>
            <a:off x="7181850" y="5181600"/>
            <a:ext cx="3714750" cy="666750"/>
          </a:xfrm>
          <a:custGeom>
            <a:avLst/>
            <a:gdLst/>
            <a:ahLst/>
            <a:cxnLst/>
            <a:rect l="l" t="t" r="r" b="b"/>
            <a:pathLst>
              <a:path w="3714750" h="666750">
                <a:moveTo>
                  <a:pt x="76200" y="0"/>
                </a:moveTo>
                <a:lnTo>
                  <a:pt x="3638550" y="0"/>
                </a:lnTo>
                <a:cubicBezTo>
                  <a:pt x="3680634" y="0"/>
                  <a:pt x="3714750" y="34116"/>
                  <a:pt x="3714750" y="76200"/>
                </a:cubicBezTo>
                <a:lnTo>
                  <a:pt x="3714750" y="590550"/>
                </a:lnTo>
                <a:cubicBezTo>
                  <a:pt x="3714750" y="632634"/>
                  <a:pt x="3680634" y="666750"/>
                  <a:pt x="363855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EBD0"/>
          </a:solidFill>
          <a:ln w="9525">
            <a:solidFill>
              <a:srgbClr val="D6DDD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09014" y="5427821"/>
            <a:ext cx="38604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LoRA 微调增强了模型对水墨画风格的适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84073" y="568499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配能力。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307584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FID 指标结果分析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14/15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60873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FID 越低，生成图像集合与真实水墨画图像集合在特征分布上越接近。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" y="1352550"/>
            <a:ext cx="6572250" cy="3733800"/>
          </a:xfrm>
          <a:custGeom>
            <a:avLst/>
            <a:gdLst/>
            <a:ahLst/>
            <a:cxnLst/>
            <a:rect l="l" t="t" r="r" b="b"/>
            <a:pathLst>
              <a:path w="6572250" h="3733800">
                <a:moveTo>
                  <a:pt x="76200" y="0"/>
                </a:moveTo>
                <a:lnTo>
                  <a:pt x="6496050" y="0"/>
                </a:lnTo>
                <a:cubicBezTo>
                  <a:pt x="6538134" y="0"/>
                  <a:pt x="6572250" y="34116"/>
                  <a:pt x="6572250" y="76200"/>
                </a:cubicBezTo>
                <a:lnTo>
                  <a:pt x="6572250" y="3657600"/>
                </a:lnTo>
                <a:cubicBezTo>
                  <a:pt x="6572250" y="3699684"/>
                  <a:pt x="6538134" y="3733800"/>
                  <a:pt x="6496050" y="3733800"/>
                </a:cubicBezTo>
                <a:lnTo>
                  <a:pt x="76200" y="3733800"/>
                </a:lnTo>
                <a:cubicBezTo>
                  <a:pt x="34116" y="3733800"/>
                  <a:pt x="0" y="3699684"/>
                  <a:pt x="0" y="36576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19250"/>
            <a:ext cx="5452110" cy="30289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896981" y="4763452"/>
            <a:ext cx="20355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Full-dataset FID 对比柱状图</a:t>
            </a:r>
          </a:p>
        </p:txBody>
      </p:sp>
      <p:sp>
        <p:nvSpPr>
          <p:cNvPr id="15" name="Freeform 15"/>
          <p:cNvSpPr/>
          <p:nvPr/>
        </p:nvSpPr>
        <p:spPr>
          <a:xfrm>
            <a:off x="7581900" y="1466850"/>
            <a:ext cx="3105150" cy="876300"/>
          </a:xfrm>
          <a:custGeom>
            <a:avLst/>
            <a:gdLst/>
            <a:ahLst/>
            <a:cxnLst/>
            <a:rect l="l" t="t" r="r" b="b"/>
            <a:pathLst>
              <a:path w="3105150" h="876300">
                <a:moveTo>
                  <a:pt x="76200" y="0"/>
                </a:moveTo>
                <a:lnTo>
                  <a:pt x="3028950" y="0"/>
                </a:lnTo>
                <a:cubicBezTo>
                  <a:pt x="3071034" y="0"/>
                  <a:pt x="3105150" y="34116"/>
                  <a:pt x="3105150" y="76200"/>
                </a:cubicBezTo>
                <a:lnTo>
                  <a:pt x="3105150" y="800100"/>
                </a:lnTo>
                <a:cubicBezTo>
                  <a:pt x="3105150" y="842184"/>
                  <a:pt x="3071034" y="876300"/>
                  <a:pt x="302895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241782" y="1629728"/>
            <a:ext cx="178538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2F7D6B"/>
                </a:solidFill>
                <a:latin typeface="Arial"/>
                <a:ea typeface="Microsoft YaHei"/>
                <a:cs typeface="Arial"/>
              </a:rPr>
              <a:t>356.3228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9874" y="2126456"/>
            <a:ext cx="2189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Rank=16 / step=600 最低 FID</a:t>
            </a:r>
          </a:p>
        </p:txBody>
      </p:sp>
      <p:sp>
        <p:nvSpPr>
          <p:cNvPr id="18" name="Freeform 18"/>
          <p:cNvSpPr/>
          <p:nvPr/>
        </p:nvSpPr>
        <p:spPr>
          <a:xfrm>
            <a:off x="7581900" y="2609850"/>
            <a:ext cx="3105150" cy="876300"/>
          </a:xfrm>
          <a:custGeom>
            <a:avLst/>
            <a:gdLst/>
            <a:ahLst/>
            <a:cxnLst/>
            <a:rect l="l" t="t" r="r" b="b"/>
            <a:pathLst>
              <a:path w="3105150" h="876300">
                <a:moveTo>
                  <a:pt x="76200" y="0"/>
                </a:moveTo>
                <a:lnTo>
                  <a:pt x="3028950" y="0"/>
                </a:lnTo>
                <a:cubicBezTo>
                  <a:pt x="3071034" y="0"/>
                  <a:pt x="3105150" y="34116"/>
                  <a:pt x="3105150" y="76200"/>
                </a:cubicBezTo>
                <a:lnTo>
                  <a:pt x="3105150" y="800100"/>
                </a:lnTo>
                <a:cubicBezTo>
                  <a:pt x="3105150" y="842184"/>
                  <a:pt x="3071034" y="876300"/>
                  <a:pt x="302895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241782" y="2772728"/>
            <a:ext cx="178538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F497D"/>
                </a:solidFill>
                <a:latin typeface="Arial"/>
                <a:ea typeface="Microsoft YaHei"/>
                <a:cs typeface="Arial"/>
              </a:rPr>
              <a:t>365.7302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15228" y="326945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Rank=8 / step=1200 接近最优</a:t>
            </a:r>
          </a:p>
        </p:txBody>
      </p:sp>
      <p:sp>
        <p:nvSpPr>
          <p:cNvPr id="21" name="Freeform 21"/>
          <p:cNvSpPr/>
          <p:nvPr/>
        </p:nvSpPr>
        <p:spPr>
          <a:xfrm>
            <a:off x="7581900" y="3752850"/>
            <a:ext cx="3105150" cy="876300"/>
          </a:xfrm>
          <a:custGeom>
            <a:avLst/>
            <a:gdLst/>
            <a:ahLst/>
            <a:cxnLst/>
            <a:rect l="l" t="t" r="r" b="b"/>
            <a:pathLst>
              <a:path w="3105150" h="876300">
                <a:moveTo>
                  <a:pt x="76200" y="0"/>
                </a:moveTo>
                <a:lnTo>
                  <a:pt x="3028950" y="0"/>
                </a:lnTo>
                <a:cubicBezTo>
                  <a:pt x="3071034" y="0"/>
                  <a:pt x="3105150" y="34116"/>
                  <a:pt x="3105150" y="76200"/>
                </a:cubicBezTo>
                <a:lnTo>
                  <a:pt x="3105150" y="800100"/>
                </a:lnTo>
                <a:cubicBezTo>
                  <a:pt x="3105150" y="842184"/>
                  <a:pt x="3071034" y="876300"/>
                  <a:pt x="302895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290664" y="3915728"/>
            <a:ext cx="16876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C0504D"/>
                </a:solidFill>
                <a:latin typeface="Arial"/>
                <a:ea typeface="Microsoft YaHei"/>
                <a:cs typeface="Arial"/>
              </a:rPr>
              <a:t>503.0517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70044" y="44124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Rank=32 / step=1200 相对较弱</a:t>
            </a:r>
          </a:p>
        </p:txBody>
      </p:sp>
      <p:sp>
        <p:nvSpPr>
          <p:cNvPr id="24" name="Freeform 24"/>
          <p:cNvSpPr/>
          <p:nvPr/>
        </p:nvSpPr>
        <p:spPr>
          <a:xfrm>
            <a:off x="7581900" y="5048250"/>
            <a:ext cx="3105150" cy="762000"/>
          </a:xfrm>
          <a:custGeom>
            <a:avLst/>
            <a:gdLst/>
            <a:ahLst/>
            <a:cxnLst/>
            <a:rect l="l" t="t" r="r" b="b"/>
            <a:pathLst>
              <a:path w="3105150" h="762000">
                <a:moveTo>
                  <a:pt x="76200" y="0"/>
                </a:moveTo>
                <a:lnTo>
                  <a:pt x="3028950" y="0"/>
                </a:lnTo>
                <a:cubicBezTo>
                  <a:pt x="3071034" y="0"/>
                  <a:pt x="3105150" y="34116"/>
                  <a:pt x="3105150" y="76200"/>
                </a:cubicBezTo>
                <a:lnTo>
                  <a:pt x="3105150" y="685800"/>
                </a:lnTo>
                <a:cubicBezTo>
                  <a:pt x="3105150" y="727884"/>
                  <a:pt x="3071034" y="762000"/>
                  <a:pt x="302895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4EBD0"/>
          </a:solidFill>
          <a:ln w="9525">
            <a:solidFill>
              <a:srgbClr val="D6DDD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6380" y="5242560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注意：每组仅 3 张生成图参与 FID 计算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29525" y="54616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，结果更适合作为当前条件下的相对参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43975" y="568071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考。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2EE">
              <a:alpha val="30000"/>
            </a:srgbClr>
          </a:soli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14350" y="971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81965" y="200978"/>
            <a:ext cx="202001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232826"/>
                </a:solidFill>
                <a:latin typeface="Arial"/>
                <a:ea typeface="SimHei"/>
                <a:cs typeface="Arial"/>
              </a:rPr>
              <a:t>总结与展望</a:t>
            </a:r>
          </a:p>
        </p:txBody>
      </p:sp>
      <p:sp>
        <p:nvSpPr>
          <p:cNvPr id="6" name="Freeform 6"/>
          <p:cNvSpPr/>
          <p:nvPr/>
        </p:nvSpPr>
        <p:spPr>
          <a:xfrm>
            <a:off x="51435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2F7D6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9865" y="3248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LoRA × Stable Diffusi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9865" y="5153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2370" y="6360795"/>
            <a:ext cx="318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15/15</a:t>
            </a:r>
          </a:p>
        </p:txBody>
      </p:sp>
      <p:sp>
        <p:nvSpPr>
          <p:cNvPr id="10" name="Line 10"/>
          <p:cNvSpPr/>
          <p:nvPr/>
        </p:nvSpPr>
        <p:spPr>
          <a:xfrm>
            <a:off x="514350" y="617220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 cap="rnd">
            <a:solidFill>
              <a:srgbClr val="D6DDD7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97205" y="730568"/>
            <a:ext cx="6245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E7A78"/>
                </a:solidFill>
                <a:latin typeface="Arial"/>
                <a:ea typeface="Microsoft YaHei"/>
                <a:cs typeface="Arial"/>
              </a:rPr>
              <a:t>本文完成了从数据整理、LoRA 微调、生成验证到指标评估的完整闭环。</a:t>
            </a:r>
          </a:p>
        </p:txBody>
      </p:sp>
      <p:sp>
        <p:nvSpPr>
          <p:cNvPr id="12" name="Freeform 12"/>
          <p:cNvSpPr/>
          <p:nvPr/>
        </p:nvSpPr>
        <p:spPr>
          <a:xfrm>
            <a:off x="666750" y="1428750"/>
            <a:ext cx="3238500" cy="3181350"/>
          </a:xfrm>
          <a:custGeom>
            <a:avLst/>
            <a:gdLst/>
            <a:ahLst/>
            <a:cxnLst/>
            <a:rect l="l" t="t" r="r" b="b"/>
            <a:pathLst>
              <a:path w="3238500" h="31813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105150"/>
                </a:lnTo>
                <a:cubicBezTo>
                  <a:pt x="3238500" y="3147234"/>
                  <a:pt x="3204384" y="3181350"/>
                  <a:pt x="3162300" y="3181350"/>
                </a:cubicBezTo>
                <a:lnTo>
                  <a:pt x="76200" y="3181350"/>
                </a:lnTo>
                <a:cubicBezTo>
                  <a:pt x="34116" y="3181350"/>
                  <a:pt x="0" y="3147234"/>
                  <a:pt x="0" y="3105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44880" y="16973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97D"/>
                </a:solidFill>
                <a:latin typeface="Arial"/>
                <a:ea typeface="SimHei"/>
                <a:cs typeface="Arial"/>
              </a:rPr>
              <a:t>完成工作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3452" y="2322671"/>
            <a:ext cx="211740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水墨画图文数据集整理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3452" y="2751296"/>
            <a:ext cx="312679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Stable Diffusion v1.5 LoRA 微调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3452" y="3179921"/>
            <a:ext cx="1493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超参数对比实验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3452" y="3608546"/>
            <a:ext cx="20549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FID 指标与可视化展示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81500" y="1428750"/>
            <a:ext cx="3238500" cy="3181350"/>
          </a:xfrm>
          <a:custGeom>
            <a:avLst/>
            <a:gdLst/>
            <a:ahLst/>
            <a:cxnLst/>
            <a:rect l="l" t="t" r="r" b="b"/>
            <a:pathLst>
              <a:path w="3238500" h="31813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105150"/>
                </a:lnTo>
                <a:cubicBezTo>
                  <a:pt x="3238500" y="3147234"/>
                  <a:pt x="3204384" y="3181350"/>
                  <a:pt x="3162300" y="3181350"/>
                </a:cubicBezTo>
                <a:lnTo>
                  <a:pt x="76200" y="3181350"/>
                </a:lnTo>
                <a:cubicBezTo>
                  <a:pt x="34116" y="3181350"/>
                  <a:pt x="0" y="3147234"/>
                  <a:pt x="0" y="3105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659630" y="169735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F7D6B"/>
                </a:solidFill>
                <a:latin typeface="Arial"/>
                <a:ea typeface="SimHei"/>
                <a:cs typeface="Arial"/>
              </a:rPr>
              <a:t>实验结论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68202" y="2322671"/>
            <a:ext cx="31580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较低参数更新成本下提升风格适配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68202" y="2751296"/>
            <a:ext cx="33661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生成图像更接近水墨画的墨色与留白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68202" y="3179921"/>
            <a:ext cx="242958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Rank 和步数并非越大越好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68202" y="3608546"/>
            <a:ext cx="27313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loss、样例和 FID 需综合判断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0" y="1428750"/>
            <a:ext cx="3238500" cy="3181350"/>
          </a:xfrm>
          <a:custGeom>
            <a:avLst/>
            <a:gdLst/>
            <a:ahLst/>
            <a:cxnLst/>
            <a:rect l="l" t="t" r="r" b="b"/>
            <a:pathLst>
              <a:path w="3238500" h="318135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105150"/>
                </a:lnTo>
                <a:cubicBezTo>
                  <a:pt x="3238500" y="3147234"/>
                  <a:pt x="3204384" y="3181350"/>
                  <a:pt x="3162300" y="3181350"/>
                </a:cubicBezTo>
                <a:lnTo>
                  <a:pt x="76200" y="3181350"/>
                </a:lnTo>
                <a:cubicBezTo>
                  <a:pt x="34116" y="3181350"/>
                  <a:pt x="0" y="3147234"/>
                  <a:pt x="0" y="3105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6DDD7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74380" y="16973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9A14B"/>
                </a:solidFill>
                <a:latin typeface="Arial"/>
                <a:ea typeface="SimHei"/>
                <a:cs typeface="Arial"/>
              </a:rPr>
              <a:t>不足与展望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952" y="2322671"/>
            <a:ext cx="18468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FID 样本数量仍偏少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82952" y="2751296"/>
            <a:ext cx="27417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局部细节与复杂结构仍需优化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82952" y="3179921"/>
            <a:ext cx="17011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扩展更多艺术风格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82952" y="3608546"/>
            <a:ext cx="32204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增加 CLIP Score、人工评分等指标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85850" y="5067300"/>
            <a:ext cx="10020300" cy="647700"/>
          </a:xfrm>
          <a:custGeom>
            <a:avLst/>
            <a:gdLst/>
            <a:ahLst/>
            <a:cxnLst/>
            <a:rect l="l" t="t" r="r" b="b"/>
            <a:pathLst>
              <a:path w="10020300" h="647700">
                <a:moveTo>
                  <a:pt x="76200" y="0"/>
                </a:moveTo>
                <a:lnTo>
                  <a:pt x="9944100" y="0"/>
                </a:lnTo>
                <a:cubicBezTo>
                  <a:pt x="9986184" y="0"/>
                  <a:pt x="10020300" y="34116"/>
                  <a:pt x="10020300" y="76200"/>
                </a:cubicBezTo>
                <a:lnTo>
                  <a:pt x="10020300" y="571500"/>
                </a:lnTo>
                <a:cubicBezTo>
                  <a:pt x="10020300" y="613584"/>
                  <a:pt x="9986184" y="647700"/>
                  <a:pt x="9944100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2EE"/>
          </a:solidFill>
          <a:ln w="9525">
            <a:solidFill>
              <a:srgbClr val="D6DDD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89542" y="5313521"/>
            <a:ext cx="1061291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主线：通过 LoRA 微调 Stable Diffusion，在普通 GPU 条件下实现水墨画风格个性化生成，并用 loss、生成效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85266" y="5570696"/>
            <a:ext cx="222146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2826"/>
                </a:solidFill>
                <a:latin typeface="Arial"/>
                <a:ea typeface="Microsoft YaHei"/>
                <a:cs typeface="Arial"/>
              </a:rPr>
              <a:t>果和 FID 验证可行性。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